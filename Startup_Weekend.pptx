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8"/>
  </p:notesMasterIdLst>
  <p:sldIdLst>
    <p:sldId id="264" r:id="rId2"/>
    <p:sldId id="275" r:id="rId3"/>
    <p:sldId id="286" r:id="rId4"/>
    <p:sldId id="287" r:id="rId5"/>
    <p:sldId id="288" r:id="rId6"/>
    <p:sldId id="289" r:id="rId7"/>
    <p:sldId id="290" r:id="rId8"/>
    <p:sldId id="291" r:id="rId9"/>
    <p:sldId id="292" r:id="rId10"/>
    <p:sldId id="312" r:id="rId11"/>
    <p:sldId id="294" r:id="rId12"/>
    <p:sldId id="295" r:id="rId13"/>
    <p:sldId id="296" r:id="rId14"/>
    <p:sldId id="304" r:id="rId15"/>
    <p:sldId id="305" r:id="rId16"/>
    <p:sldId id="307" r:id="rId17"/>
  </p:sldIdLst>
  <p:sldSz cx="13004800" cy="9753600"/>
  <p:notesSz cx="6858000" cy="9144000"/>
  <p:embeddedFontLst>
    <p:embeddedFont>
      <p:font typeface="Montserrat" charset="0"/>
      <p:regular r:id="rId19"/>
      <p:bold r:id="rId20"/>
      <p:italic r:id="rId21"/>
      <p:boldItalic r:id="rId22"/>
    </p:embeddedFont>
    <p:embeddedFont>
      <p:font typeface="Helvetica Neue Light" charset="0"/>
      <p:regular r:id="rId23"/>
      <p:bold r:id="rId24"/>
      <p:italic r:id="rId25"/>
      <p:boldItalic r:id="rId26"/>
    </p:embeddedFont>
    <p:embeddedFont>
      <p:font typeface="Helvetica Neue" charset="0"/>
      <p:regular r:id="rId27"/>
      <p:bold r:id="rId28"/>
      <p:italic r:id="rId29"/>
      <p:boldItalic r:id="rId30"/>
    </p:embeddedFont>
    <p:embeddedFont>
      <p:font typeface="Merriweather Sans"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D023"/>
    <a:srgbClr val="EEB500"/>
  </p:clrMru>
</p:presentationPr>
</file>

<file path=ppt/tableStyles.xml><?xml version="1.0" encoding="utf-8"?>
<a:tblStyleLst xmlns:a="http://schemas.openxmlformats.org/drawingml/2006/main" def="{43399413-4C59-475D-B99D-7C4F634014EC}">
  <a:tblStyle styleId="{43399413-4C59-475D-B99D-7C4F634014E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41" autoAdjust="0"/>
  </p:normalViewPr>
  <p:slideViewPr>
    <p:cSldViewPr>
      <p:cViewPr varScale="1">
        <p:scale>
          <a:sx n="53" d="100"/>
          <a:sy n="53" d="100"/>
        </p:scale>
        <p:origin x="-1642" y="-77"/>
      </p:cViewPr>
      <p:guideLst>
        <p:guide orient="horz" pos="3072"/>
        <p:guide pos="4096"/>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 name="Shape 4"/>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1pPr>
            <a:lvl2pPr marL="914400" marR="0" lvl="1"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2pPr>
            <a:lvl3pPr marL="1371600" marR="0" lvl="2"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3pPr>
            <a:lvl4pPr marL="1828800" marR="0" lvl="3"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4pPr>
            <a:lvl5pPr marL="2286000" marR="0" lvl="4"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5pPr>
            <a:lvl6pPr marL="2743200" marR="0" lvl="5"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6pPr>
            <a:lvl7pPr marL="3200400" marR="0" lvl="6"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7pPr>
            <a:lvl8pPr marL="3657600" marR="0" lvl="7"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8pPr>
            <a:lvl9pPr marL="4114800" marR="0" lvl="8" indent="-228600" algn="l" rtl="0">
              <a:spcBef>
                <a:spcPts val="0"/>
              </a:spcBef>
              <a:spcAft>
                <a:spcPts val="0"/>
              </a:spcAft>
              <a:buSzPts val="1400"/>
              <a:buNone/>
              <a:defRPr sz="2200" b="0" i="0" u="none" strike="noStrike" cap="none">
                <a:latin typeface="Merriweather Sans"/>
                <a:ea typeface="Merriweather Sans"/>
                <a:cs typeface="Merriweather Sans"/>
                <a:sym typeface="Merriweather Sans"/>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Shape 169"/>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Clr>
                <a:srgbClr val="000000"/>
              </a:buClr>
              <a:buSzPts val="1100"/>
              <a:buFont typeface="Arial"/>
              <a:buNone/>
            </a:pPr>
            <a:endParaRPr sz="1400" dirty="0">
              <a:solidFill>
                <a:schemeClr val="dk1"/>
              </a:solidFill>
              <a:latin typeface="Helvetica Neue"/>
              <a:ea typeface="Helvetica Neue"/>
              <a:cs typeface="Helvetica Neue"/>
              <a:sym typeface="Helvetica Neue"/>
            </a:endParaRPr>
          </a:p>
          <a:p>
            <a:pPr marL="0" lvl="0" indent="0" rtl="0">
              <a:spcBef>
                <a:spcPts val="0"/>
              </a:spcBef>
              <a:spcAft>
                <a:spcPts val="0"/>
              </a:spcAft>
              <a:buClr>
                <a:srgbClr val="000000"/>
              </a:buClr>
              <a:buSzPts val="1100"/>
              <a:buFont typeface="Arial"/>
              <a:buNone/>
            </a:pPr>
            <a:r>
              <a:rPr lang="en-US" sz="1400" dirty="0">
                <a:solidFill>
                  <a:schemeClr val="dk1"/>
                </a:solidFill>
                <a:latin typeface="Avenir"/>
                <a:ea typeface="Avenir"/>
                <a:cs typeface="Avenir"/>
                <a:sym typeface="Avenir"/>
              </a:rPr>
              <a:t>What to Edit:</a:t>
            </a:r>
            <a:endParaRPr sz="1400" dirty="0">
              <a:solidFill>
                <a:schemeClr val="dk1"/>
              </a:solidFill>
              <a:latin typeface="Helvetica Neue"/>
              <a:ea typeface="Helvetica Neue"/>
              <a:cs typeface="Helvetica Neue"/>
              <a:sym typeface="Helvetica Neue"/>
            </a:endParaRPr>
          </a:p>
          <a:p>
            <a:pPr marL="0" lvl="0" indent="0" rtl="0">
              <a:spcBef>
                <a:spcPts val="0"/>
              </a:spcBef>
              <a:spcAft>
                <a:spcPts val="0"/>
              </a:spcAft>
              <a:buClr>
                <a:srgbClr val="000000"/>
              </a:buClr>
              <a:buSzPts val="1100"/>
              <a:buFont typeface="Arial"/>
              <a:buNone/>
            </a:pPr>
            <a:r>
              <a:rPr lang="en-US" sz="1400" dirty="0">
                <a:solidFill>
                  <a:schemeClr val="dk1"/>
                </a:solidFill>
                <a:latin typeface="Avenir"/>
                <a:ea typeface="Avenir"/>
                <a:cs typeface="Avenir"/>
                <a:sym typeface="Avenir"/>
              </a:rPr>
              <a:t>Add the city name / edition. Add some flair! The more its customized, the more personal and intimate the event will </a:t>
            </a:r>
            <a:r>
              <a:rPr lang="en-US" sz="1400" dirty="0" err="1">
                <a:solidFill>
                  <a:schemeClr val="dk1"/>
                </a:solidFill>
                <a:latin typeface="Avenir"/>
                <a:ea typeface="Avenir"/>
                <a:cs typeface="Avenir"/>
                <a:sym typeface="Avenir"/>
              </a:rPr>
              <a:t>feel.What</a:t>
            </a:r>
            <a:r>
              <a:rPr lang="en-US" sz="1400" dirty="0">
                <a:solidFill>
                  <a:schemeClr val="dk1"/>
                </a:solidFill>
                <a:latin typeface="Avenir"/>
                <a:ea typeface="Avenir"/>
                <a:cs typeface="Avenir"/>
                <a:sym typeface="Avenir"/>
              </a:rPr>
              <a:t> to Do during the presentation:</a:t>
            </a:r>
            <a:endParaRPr sz="1400" dirty="0">
              <a:solidFill>
                <a:schemeClr val="dk1"/>
              </a:solidFill>
              <a:latin typeface="Avenir"/>
              <a:ea typeface="Avenir"/>
              <a:cs typeface="Avenir"/>
              <a:sym typeface="Avenir"/>
            </a:endParaRPr>
          </a:p>
          <a:p>
            <a:pPr marL="0" lvl="0" indent="0" rtl="0">
              <a:spcBef>
                <a:spcPts val="0"/>
              </a:spcBef>
              <a:spcAft>
                <a:spcPts val="0"/>
              </a:spcAft>
              <a:buClr>
                <a:srgbClr val="000000"/>
              </a:buClr>
              <a:buSzPts val="1100"/>
              <a:buFont typeface="Arial"/>
              <a:buNone/>
            </a:pPr>
            <a:endParaRPr sz="1400" dirty="0">
              <a:solidFill>
                <a:schemeClr val="dk1"/>
              </a:solidFill>
              <a:latin typeface="Avenir"/>
              <a:ea typeface="Avenir"/>
              <a:cs typeface="Avenir"/>
              <a:sym typeface="Avenir"/>
            </a:endParaRPr>
          </a:p>
          <a:p>
            <a:pPr marL="172860" lvl="0" indent="-172860" rtl="0">
              <a:spcBef>
                <a:spcPts val="0"/>
              </a:spcBef>
              <a:spcAft>
                <a:spcPts val="0"/>
              </a:spcAft>
              <a:buClr>
                <a:schemeClr val="dk1"/>
              </a:buClr>
              <a:buSzPts val="1750"/>
              <a:buFont typeface="Avenir"/>
              <a:buChar char="•"/>
            </a:pPr>
            <a:r>
              <a:rPr lang="en-US" sz="1400" dirty="0">
                <a:solidFill>
                  <a:schemeClr val="dk1"/>
                </a:solidFill>
                <a:latin typeface="Avenir"/>
                <a:ea typeface="Avenir"/>
                <a:cs typeface="Avenir"/>
                <a:sym typeface="Avenir"/>
              </a:rPr>
              <a:t>Get people excited and energized.</a:t>
            </a:r>
            <a:endParaRPr sz="1400" dirty="0">
              <a:solidFill>
                <a:schemeClr val="dk1"/>
              </a:solidFill>
              <a:latin typeface="Helvetica Neue"/>
              <a:ea typeface="Helvetica Neue"/>
              <a:cs typeface="Helvetica Neue"/>
              <a:sym typeface="Helvetica Neue"/>
            </a:endParaRPr>
          </a:p>
          <a:p>
            <a:pPr marL="0" lvl="0" indent="0" rtl="0">
              <a:spcBef>
                <a:spcPts val="0"/>
              </a:spcBef>
              <a:spcAft>
                <a:spcPts val="0"/>
              </a:spcAft>
              <a:buClr>
                <a:srgbClr val="000000"/>
              </a:buClr>
              <a:buSzPts val="1100"/>
              <a:buFont typeface="Arial"/>
              <a:buNone/>
            </a:pPr>
            <a:endParaRPr sz="1400" dirty="0">
              <a:solidFill>
                <a:schemeClr val="dk1"/>
              </a:solidFill>
              <a:latin typeface="Avenir"/>
              <a:ea typeface="Avenir"/>
              <a:cs typeface="Avenir"/>
              <a:sym typeface="Avenir"/>
            </a:endParaRPr>
          </a:p>
          <a:p>
            <a:pPr marL="0" lvl="0" indent="0" rtl="0">
              <a:spcBef>
                <a:spcPts val="0"/>
              </a:spcBef>
              <a:spcAft>
                <a:spcPts val="0"/>
              </a:spcAft>
              <a:buClr>
                <a:srgbClr val="000000"/>
              </a:buClr>
              <a:buSzPts val="1100"/>
              <a:buFont typeface="Arial"/>
              <a:buNone/>
            </a:pPr>
            <a:r>
              <a:rPr lang="en-US" sz="1400" dirty="0">
                <a:solidFill>
                  <a:schemeClr val="dk1"/>
                </a:solidFill>
                <a:latin typeface="Avenir"/>
                <a:ea typeface="Avenir"/>
                <a:cs typeface="Avenir"/>
                <a:sym typeface="Avenir"/>
              </a:rPr>
              <a:t>Example Facilitator Introduction:</a:t>
            </a:r>
            <a:endParaRPr sz="1400" dirty="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750"/>
              <a:buFont typeface="Avenir"/>
              <a:buChar char="•"/>
            </a:pPr>
            <a:r>
              <a:rPr lang="en-US" sz="1400" dirty="0">
                <a:solidFill>
                  <a:schemeClr val="dk1"/>
                </a:solidFill>
                <a:latin typeface="Avenir"/>
                <a:ea typeface="Avenir"/>
                <a:cs typeface="Avenir"/>
                <a:sym typeface="Avenir"/>
              </a:rPr>
              <a:t>Welcome to Startup Weekend!</a:t>
            </a:r>
            <a:endParaRPr sz="1400" dirty="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750"/>
              <a:buFont typeface="Avenir"/>
              <a:buChar char="•"/>
            </a:pPr>
            <a:r>
              <a:rPr lang="en-US" sz="1400" dirty="0">
                <a:solidFill>
                  <a:schemeClr val="dk1"/>
                </a:solidFill>
                <a:latin typeface="Avenir"/>
                <a:ea typeface="Avenir"/>
                <a:cs typeface="Avenir"/>
                <a:sym typeface="Avenir"/>
              </a:rPr>
              <a:t>Who has been to Startup Weekend before?</a:t>
            </a:r>
            <a:endParaRPr sz="1400" dirty="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750"/>
              <a:buFont typeface="Avenir"/>
              <a:buChar char="•"/>
            </a:pPr>
            <a:r>
              <a:rPr lang="en-US" sz="1400" dirty="0">
                <a:solidFill>
                  <a:schemeClr val="dk1"/>
                </a:solidFill>
                <a:latin typeface="Avenir"/>
                <a:ea typeface="Avenir"/>
                <a:cs typeface="Avenir"/>
                <a:sym typeface="Avenir"/>
              </a:rPr>
              <a:t>How many: designer? Developers? Women?</a:t>
            </a:r>
            <a:endParaRPr sz="1400" dirty="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750"/>
              <a:buFont typeface="Avenir"/>
              <a:buChar char="•"/>
            </a:pPr>
            <a:r>
              <a:rPr lang="en-US" sz="1400" dirty="0">
                <a:solidFill>
                  <a:schemeClr val="dk1"/>
                </a:solidFill>
                <a:latin typeface="Avenir"/>
                <a:ea typeface="Avenir"/>
                <a:cs typeface="Avenir"/>
                <a:sym typeface="Avenir"/>
              </a:rPr>
              <a:t>Who here has an idea they want to pitch?</a:t>
            </a:r>
            <a:endParaRPr sz="1400" dirty="0">
              <a:solidFill>
                <a:schemeClr val="dk1"/>
              </a:solidFill>
              <a:latin typeface="Helvetica Neue"/>
              <a:ea typeface="Helvetica Neue"/>
              <a:cs typeface="Helvetica Neue"/>
              <a:sym typeface="Helvetica Neue"/>
            </a:endParaRPr>
          </a:p>
          <a:p>
            <a:pPr marL="0" lvl="0" indent="0" rtl="0">
              <a:spcBef>
                <a:spcPts val="0"/>
              </a:spcBef>
              <a:spcAft>
                <a:spcPts val="0"/>
              </a:spcAft>
              <a:buClr>
                <a:srgbClr val="000000"/>
              </a:buClr>
              <a:buSzPts val="1100"/>
              <a:buFont typeface="Arial"/>
              <a:buNone/>
            </a:pPr>
            <a:endParaRPr sz="1200" dirty="0">
              <a:solidFill>
                <a:schemeClr val="dk1"/>
              </a:solidFill>
              <a:latin typeface="Montserrat"/>
              <a:ea typeface="Montserrat"/>
              <a:cs typeface="Montserrat"/>
              <a:sym typeface="Montserrat"/>
            </a:endParaRPr>
          </a:p>
          <a:p>
            <a:pPr marL="172860" lvl="0" indent="-150635" rtl="0">
              <a:spcBef>
                <a:spcPts val="0"/>
              </a:spcBef>
              <a:spcAft>
                <a:spcPts val="0"/>
              </a:spcAft>
              <a:buClr>
                <a:schemeClr val="dk1"/>
              </a:buClr>
              <a:buSzPts val="1400"/>
              <a:buFont typeface="Helvetica Neue"/>
              <a:buChar char="•"/>
            </a:pPr>
            <a:endParaRPr sz="1400" b="1" dirty="0">
              <a:solidFill>
                <a:schemeClr val="dk1"/>
              </a:solidFill>
              <a:latin typeface="Helvetica Neue"/>
              <a:ea typeface="Helvetica Neue"/>
              <a:cs typeface="Helvetica Neue"/>
              <a:sym typeface="Helvetica Neue"/>
            </a:endParaRPr>
          </a:p>
        </p:txBody>
      </p:sp>
      <p:sp>
        <p:nvSpPr>
          <p:cNvPr id="170" name="Shape 17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Shape 31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318" name="Shape 318"/>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i="0" u="none" strike="noStrike" cap="none" dirty="0">
                <a:latin typeface="Montserrat"/>
                <a:ea typeface="Montserrat"/>
                <a:cs typeface="Montserrat"/>
                <a:sym typeface="Montserrat"/>
              </a:rPr>
              <a:t>What to Do:</a:t>
            </a: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r>
              <a:rPr lang="en-US" sz="1200" i="0" u="none" strike="noStrike" cap="none" dirty="0">
                <a:latin typeface="Montserrat"/>
                <a:ea typeface="Montserrat"/>
                <a:cs typeface="Montserrat"/>
                <a:sym typeface="Montserrat"/>
              </a:rPr>
              <a:t>Startup Weekends are meant to be a safe place to bring people together to learn, build, and grow. Give a quick overview of Startup Weekend and the scale of our events.</a:t>
            </a: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r>
              <a:rPr lang="en-US" sz="1200" b="1" i="0" u="none" strike="noStrike" cap="none" dirty="0">
                <a:latin typeface="Montserrat"/>
                <a:ea typeface="Montserrat"/>
                <a:cs typeface="Montserrat"/>
                <a:sym typeface="Montserrat"/>
              </a:rPr>
              <a:t>Example Talking points</a:t>
            </a: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r>
              <a:rPr lang="en-US" sz="1200" i="0" u="none" strike="noStrike" cap="none" dirty="0">
                <a:latin typeface="Montserrat"/>
                <a:ea typeface="Montserrat"/>
                <a:cs typeface="Montserrat"/>
                <a:sym typeface="Montserrat"/>
              </a:rPr>
              <a:t>So what is Startup Weekend all about? Startup Weekend is one of the leading catalysts for startup creation and entrepreneurial education around the world. Our mission is to educate and inspire entrepreneurs and give them the motivation and networking opportunities they need to take the next step in creating a successful startup company. Founded in 2007, we’re focused on expanding our model to become a global, hyper-local grassroots movement. </a:t>
            </a: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r>
              <a:rPr lang="en-US" sz="1200" i="0" u="none" strike="noStrike" cap="none" dirty="0">
                <a:latin typeface="Montserrat"/>
                <a:ea typeface="Montserrat"/>
                <a:cs typeface="Montserrat"/>
                <a:sym typeface="Montserrat"/>
              </a:rPr>
              <a:t>Some quick facts:- [Updated June 201</a:t>
            </a:r>
            <a:r>
              <a:rPr lang="en-US" sz="1200" dirty="0">
                <a:latin typeface="Montserrat"/>
                <a:ea typeface="Montserrat"/>
                <a:cs typeface="Montserrat"/>
                <a:sym typeface="Montserrat"/>
              </a:rPr>
              <a:t>7</a:t>
            </a:r>
            <a:r>
              <a:rPr lang="en-US" sz="1200" i="0" u="none" strike="noStrike" cap="none" dirty="0">
                <a:latin typeface="Montserrat"/>
                <a:ea typeface="Montserrat"/>
                <a:cs typeface="Montserrat"/>
                <a:sym typeface="Montserrat"/>
              </a:rPr>
              <a:t>]</a:t>
            </a: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r>
              <a:rPr lang="en-US" sz="1200" i="0" u="none" strike="noStrike" cap="none" dirty="0">
                <a:latin typeface="Montserrat"/>
                <a:ea typeface="Montserrat"/>
                <a:cs typeface="Montserrat"/>
                <a:sym typeface="Montserrat"/>
              </a:rPr>
              <a:t>Startup Weekend has helped educate &amp; inspire </a:t>
            </a:r>
            <a:r>
              <a:rPr lang="en-US" sz="1200" dirty="0">
                <a:latin typeface="Montserrat"/>
                <a:ea typeface="Montserrat"/>
                <a:cs typeface="Montserrat"/>
                <a:sym typeface="Montserrat"/>
              </a:rPr>
              <a:t>over</a:t>
            </a:r>
            <a:r>
              <a:rPr lang="en-US" sz="1200" i="0" u="none" strike="noStrike" cap="none" dirty="0">
                <a:latin typeface="Montserrat"/>
                <a:ea typeface="Montserrat"/>
                <a:cs typeface="Montserrat"/>
                <a:sym typeface="Montserrat"/>
              </a:rPr>
              <a:t> </a:t>
            </a:r>
            <a:r>
              <a:rPr lang="en-US" sz="1200" b="1" dirty="0">
                <a:latin typeface="Montserrat"/>
                <a:ea typeface="Montserrat"/>
                <a:cs typeface="Montserrat"/>
                <a:sym typeface="Montserrat"/>
              </a:rPr>
              <a:t>35</a:t>
            </a:r>
            <a:r>
              <a:rPr lang="en-US" sz="1200" b="1" i="0" u="none" strike="noStrike" cap="none" dirty="0">
                <a:latin typeface="Montserrat"/>
                <a:ea typeface="Montserrat"/>
                <a:cs typeface="Montserrat"/>
                <a:sym typeface="Montserrat"/>
              </a:rPr>
              <a:t>0,000 entrepreneurs</a:t>
            </a:r>
            <a:r>
              <a:rPr lang="en-US" sz="1200" i="0" u="none" strike="noStrike" cap="none" dirty="0">
                <a:latin typeface="Montserrat"/>
                <a:ea typeface="Montserrat"/>
                <a:cs typeface="Montserrat"/>
                <a:sym typeface="Montserrat"/>
              </a:rPr>
              <a:t> - We’ve had over </a:t>
            </a:r>
            <a:r>
              <a:rPr lang="en-US" sz="1200" b="1" dirty="0">
                <a:latin typeface="Montserrat"/>
                <a:ea typeface="Montserrat"/>
                <a:cs typeface="Montserrat"/>
                <a:sym typeface="Montserrat"/>
              </a:rPr>
              <a:t>45</a:t>
            </a:r>
            <a:r>
              <a:rPr lang="en-US" sz="1200" b="1" i="0" u="none" strike="noStrike" cap="none" dirty="0">
                <a:latin typeface="Montserrat"/>
                <a:ea typeface="Montserrat"/>
                <a:cs typeface="Montserrat"/>
                <a:sym typeface="Montserrat"/>
              </a:rPr>
              <a:t>00 events</a:t>
            </a:r>
            <a:r>
              <a:rPr lang="en-US" sz="1200" i="0" u="none" strike="noStrike" cap="none" dirty="0">
                <a:latin typeface="Montserrat"/>
                <a:ea typeface="Montserrat"/>
                <a:cs typeface="Montserrat"/>
                <a:sym typeface="Montserrat"/>
              </a:rPr>
              <a:t> in over </a:t>
            </a:r>
            <a:r>
              <a:rPr lang="en-US" sz="1200" b="1" i="0" u="none" strike="noStrike" cap="none" dirty="0">
                <a:latin typeface="Montserrat"/>
                <a:ea typeface="Montserrat"/>
                <a:cs typeface="Montserrat"/>
                <a:sym typeface="Montserrat"/>
              </a:rPr>
              <a:t>150+ countries</a:t>
            </a:r>
            <a:r>
              <a:rPr lang="en-US" sz="1200" i="0" u="none" strike="noStrike" cap="none" dirty="0">
                <a:latin typeface="Montserrat"/>
                <a:ea typeface="Montserrat"/>
                <a:cs typeface="Montserrat"/>
                <a:sym typeface="Montserrat"/>
              </a:rPr>
              <a:t> to date. </a:t>
            </a: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endParaRPr sz="1200" i="0" u="none" strike="noStrike" cap="none" dirty="0">
              <a:latin typeface="Montserrat"/>
              <a:ea typeface="Montserrat"/>
              <a:cs typeface="Montserrat"/>
              <a:sym typeface="Montserrat"/>
            </a:endParaRPr>
          </a:p>
          <a:p>
            <a:pPr marL="0" marR="0" lvl="0" indent="0" algn="l" rtl="0">
              <a:spcBef>
                <a:spcPts val="0"/>
              </a:spcBef>
              <a:spcAft>
                <a:spcPts val="0"/>
              </a:spcAft>
              <a:buNone/>
            </a:pPr>
            <a:r>
              <a:rPr lang="en-US" sz="1200" i="0" u="none" strike="noStrike" cap="none" dirty="0">
                <a:latin typeface="Montserrat"/>
                <a:ea typeface="Montserrat"/>
                <a:cs typeface="Montserrat"/>
                <a:sym typeface="Montserrat"/>
              </a:rPr>
              <a:t>Over </a:t>
            </a:r>
            <a:r>
              <a:rPr lang="en-US" sz="1200" b="1" i="0" u="none" strike="noStrike" cap="none" dirty="0">
                <a:latin typeface="Montserrat"/>
                <a:ea typeface="Montserrat"/>
                <a:cs typeface="Montserrat"/>
                <a:sym typeface="Montserrat"/>
              </a:rPr>
              <a:t>10,000 organizers and volunteers</a:t>
            </a:r>
            <a:r>
              <a:rPr lang="en-US" sz="1200" i="0" u="none" strike="noStrike" cap="none" dirty="0">
                <a:latin typeface="Montserrat"/>
                <a:ea typeface="Montserrat"/>
                <a:cs typeface="Montserrat"/>
                <a:sym typeface="Montserrat"/>
              </a:rPr>
              <a:t> that are the driving force in Startup Weekend’s success- Over </a:t>
            </a:r>
            <a:r>
              <a:rPr lang="en-US" sz="1200" b="1" dirty="0">
                <a:latin typeface="Montserrat"/>
                <a:ea typeface="Montserrat"/>
                <a:cs typeface="Montserrat"/>
                <a:sym typeface="Montserrat"/>
              </a:rPr>
              <a:t>7</a:t>
            </a:r>
            <a:r>
              <a:rPr lang="en-US" sz="1200" b="1" i="0" u="none" strike="noStrike" cap="none" dirty="0">
                <a:latin typeface="Montserrat"/>
                <a:ea typeface="Montserrat"/>
                <a:cs typeface="Montserrat"/>
                <a:sym typeface="Montserrat"/>
              </a:rPr>
              <a:t>000 ventures</a:t>
            </a:r>
            <a:r>
              <a:rPr lang="en-US" sz="1200" i="0" u="none" strike="noStrike" cap="none" dirty="0">
                <a:latin typeface="Montserrat"/>
                <a:ea typeface="Montserrat"/>
                <a:cs typeface="Montserrat"/>
                <a:sym typeface="Montserrat"/>
              </a:rPr>
              <a:t> have been launched at Startup Weekend’s around the globe. </a:t>
            </a:r>
            <a:endParaRPr sz="1200" i="0" u="none" strike="noStrike" cap="none" dirty="0">
              <a:latin typeface="Montserrat"/>
              <a:ea typeface="Montserrat"/>
              <a:cs typeface="Montserrat"/>
              <a:sym typeface="Montserra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Shape 46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62" name="Shape 462"/>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Now’s the time to challenge Participants: What are their goals for the weekend? </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Challenge attendees to challenge themselves. The more they put into the weekend, the better the experience. </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b="1">
                <a:solidFill>
                  <a:schemeClr val="dk1"/>
                </a:solidFill>
                <a:latin typeface="Helvetica Neue"/>
                <a:ea typeface="Helvetica Neue"/>
                <a:cs typeface="Helvetica Neue"/>
                <a:sym typeface="Helvetica Neue"/>
              </a:rPr>
              <a:t>Example talking points:</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Why are you here?</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What is your end goal for the weekend?</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What you can expect to get out of the weekend:</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Education</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Build your network</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Co-Founder Dating</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Learn a new Skill</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Launch a Business! </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Mentorship</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Have fun!</a:t>
            </a:r>
            <a:endParaRPr sz="14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1200" b="1">
              <a:solidFill>
                <a:srgbClr val="898989"/>
              </a:solidFill>
              <a:latin typeface="Montserrat"/>
              <a:ea typeface="Montserrat"/>
              <a:cs typeface="Montserrat"/>
              <a:sym typeface="Montserra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Shape 46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68" name="Shape 468"/>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Now’s the time to challenge Participants: What are their goals for the weekend? </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Challenge attendees to challenge themselves. The more they put into the weekend, the better the experience. </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b="1">
                <a:solidFill>
                  <a:schemeClr val="dk1"/>
                </a:solidFill>
                <a:latin typeface="Helvetica Neue"/>
                <a:ea typeface="Helvetica Neue"/>
                <a:cs typeface="Helvetica Neue"/>
                <a:sym typeface="Helvetica Neue"/>
              </a:rPr>
              <a:t>Example talking points:</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Why are you here?</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What is your end goal for the weekend?</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What you can expect to get out of the weekend:</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Education</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Build your network</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Co-Founder Dating</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Learn a new Skill</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Launch a Business! </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Mentorship</a:t>
            </a:r>
            <a:endParaRPr sz="1400">
              <a:solidFill>
                <a:schemeClr val="dk1"/>
              </a:solidFill>
              <a:latin typeface="Helvetica Neue"/>
              <a:ea typeface="Helvetica Neue"/>
              <a:cs typeface="Helvetica Neue"/>
              <a:sym typeface="Helvetica Neue"/>
            </a:endParaRPr>
          </a:p>
          <a:p>
            <a:pPr marL="172860" lvl="0" indent="-172860" rtl="0">
              <a:spcBef>
                <a:spcPts val="0"/>
              </a:spcBef>
              <a:spcAft>
                <a:spcPts val="0"/>
              </a:spcAft>
              <a:buClr>
                <a:schemeClr val="dk1"/>
              </a:buClr>
              <a:buSzPts val="1050"/>
              <a:buFont typeface="Helvetica Neue"/>
              <a:buChar char="•"/>
            </a:pPr>
            <a:r>
              <a:rPr lang="en-US" sz="1400">
                <a:solidFill>
                  <a:schemeClr val="dk1"/>
                </a:solidFill>
                <a:latin typeface="Helvetica Neue"/>
                <a:ea typeface="Helvetica Neue"/>
                <a:cs typeface="Helvetica Neue"/>
                <a:sym typeface="Helvetica Neue"/>
              </a:rPr>
              <a:t>Have fun!</a:t>
            </a:r>
            <a:endParaRPr sz="14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1200" b="1">
              <a:solidFill>
                <a:srgbClr val="898989"/>
              </a:solidFill>
              <a:latin typeface="Montserrat"/>
              <a:ea typeface="Montserrat"/>
              <a:cs typeface="Montserrat"/>
              <a:sym typeface="Montserra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Shape 47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78" name="Shape 478"/>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latin typeface="Montserrat"/>
              <a:ea typeface="Montserrat"/>
              <a:cs typeface="Montserrat"/>
              <a:sym typeface="Montserra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Shape 48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484" name="Shape 484"/>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The Friday Schedule:</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 Longer version</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We are going to pitch ideas, vote, form teams then get on your way.</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When you get into teams, everyone on your team is going to braindump every feature they can think of, just get it all out. Then you'll spend a few minutes cutting them all away as you prioritize and refine until you hone on your weekend MVP - minimum viable product. What you can actually deliver this weekend. </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If your team starts to argue, and they will, work out a voting process (thumb up / thumb down, majority wins). Don't spend more than a few moments getting perspectives and MOVE ON. For the love of God, do not spend more than 10 minutes figuring out a name. It's ok if it changes later.</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The goal is to build enough to be able to tell your story. </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To goal of tonight is to get on the same page. Prioritize which work is most important, and which assumptions your team will need to test. This will make work easier for tomorrow morning. </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Make sure to exchange contact info before you leave! </a:t>
            </a:r>
            <a:endParaRPr sz="14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Shape 50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05" name="Shape 505"/>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The Saturday Schedule:</a:t>
            </a:r>
            <a:endParaRPr sz="14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14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r>
              <a:rPr lang="en-US" sz="1400">
                <a:solidFill>
                  <a:schemeClr val="dk1"/>
                </a:solidFill>
                <a:latin typeface="Helvetica Neue"/>
                <a:ea typeface="Helvetica Neue"/>
                <a:cs typeface="Helvetica Neue"/>
                <a:sym typeface="Helvetica Neue"/>
              </a:rPr>
              <a:t>Saturday is all about getting work done and validating your idea! When you come in you should be thinking about who on your team is going to interview potential customers.  Remember to get out of the building!  Set a time for to regroup for those people to come back and share the feedback collected. Coaches will be coming in throughout the day to give feedback as well (remember to check the schedule). </a:t>
            </a:r>
            <a:endParaRPr sz="14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140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Shape 5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27" name="Shape 527"/>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The Sunday Schedule:</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 Longer version</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Sunday morning your team will come in and continue to work and collect feedback from customers. By mid morning we’ll check back in to prepare you for the final presentations with presentation coaching and a tech check.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Shape 55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552" name="Shape 552"/>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Don’t forget! Some people are completely new to Startup Weekend and may not have a clear idea what’s happening. Help them plan their weekend.</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Tomorrow doors open at X am for breakfast, and at X am will go through getting the most out of Saturday. There is some great information here, do not miss it.</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Same goes for Sunday, we will meet together at 10am and go over how to best deliver your presentation.</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Let's get to pitching!</a:t>
            </a:r>
            <a:endParaRPr sz="14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Shape 773"/>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sz="1200" dirty="0">
              <a:latin typeface="Montserrat"/>
              <a:ea typeface="Montserrat"/>
              <a:cs typeface="Montserrat"/>
              <a:sym typeface="Montserrat"/>
            </a:endParaRPr>
          </a:p>
        </p:txBody>
      </p:sp>
      <p:sp>
        <p:nvSpPr>
          <p:cNvPr id="774" name="Shape 77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Shape 568"/>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sz="1200">
                <a:latin typeface="Montserrat"/>
                <a:ea typeface="Montserrat"/>
                <a:cs typeface="Montserrat"/>
                <a:sym typeface="Montserrat"/>
              </a:rPr>
              <a:t> </a:t>
            </a:r>
            <a:endParaRPr sz="1200">
              <a:latin typeface="Montserrat"/>
              <a:ea typeface="Montserrat"/>
              <a:cs typeface="Montserrat"/>
              <a:sym typeface="Montserrat"/>
            </a:endParaRPr>
          </a:p>
        </p:txBody>
      </p:sp>
      <p:sp>
        <p:nvSpPr>
          <p:cNvPr id="569" name="Shape 56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Shape 578"/>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Clr>
                <a:schemeClr val="dk1"/>
              </a:buClr>
              <a:buSzPts val="1100"/>
              <a:buFont typeface="Arial"/>
              <a:buNone/>
            </a:pPr>
            <a:r>
              <a:rPr lang="en-US" sz="1200">
                <a:solidFill>
                  <a:schemeClr val="dk1"/>
                </a:solidFill>
                <a:latin typeface="Montserrat"/>
                <a:ea typeface="Montserrat"/>
                <a:cs typeface="Montserrat"/>
                <a:sym typeface="Montserrat"/>
              </a:rPr>
              <a:t> </a:t>
            </a:r>
            <a:endParaRPr sz="1200">
              <a:solidFill>
                <a:schemeClr val="dk1"/>
              </a:solidFill>
              <a:latin typeface="Montserrat"/>
              <a:ea typeface="Montserrat"/>
              <a:cs typeface="Montserrat"/>
              <a:sym typeface="Montserrat"/>
            </a:endParaRPr>
          </a:p>
          <a:p>
            <a:pPr marL="0" lvl="0" indent="0">
              <a:spcBef>
                <a:spcPts val="0"/>
              </a:spcBef>
              <a:spcAft>
                <a:spcPts val="0"/>
              </a:spcAft>
              <a:buNone/>
            </a:pPr>
            <a:endParaRPr sz="1200">
              <a:latin typeface="Montserrat"/>
              <a:ea typeface="Montserrat"/>
              <a:cs typeface="Montserrat"/>
              <a:sym typeface="Montserrat"/>
            </a:endParaRPr>
          </a:p>
        </p:txBody>
      </p:sp>
      <p:sp>
        <p:nvSpPr>
          <p:cNvPr id="579" name="Shape 57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Shape 588"/>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sz="1200">
              <a:latin typeface="Montserrat"/>
              <a:ea typeface="Montserrat"/>
              <a:cs typeface="Montserrat"/>
              <a:sym typeface="Montserrat"/>
            </a:endParaRPr>
          </a:p>
        </p:txBody>
      </p:sp>
      <p:sp>
        <p:nvSpPr>
          <p:cNvPr id="589" name="Shape 5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Shape 66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69" name="Shape 669"/>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i="0" u="none" strike="noStrike" cap="none">
                <a:latin typeface="Montserrat"/>
                <a:ea typeface="Montserrat"/>
                <a:cs typeface="Montserrat"/>
                <a:sym typeface="Montserrat"/>
              </a:rPr>
              <a:t>Talking Points:</a:t>
            </a:r>
            <a:endParaRPr sz="1200">
              <a:latin typeface="Montserrat"/>
              <a:ea typeface="Montserrat"/>
              <a:cs typeface="Montserrat"/>
              <a:sym typeface="Montserrat"/>
            </a:endParaRPr>
          </a:p>
          <a:p>
            <a:pPr marL="0" marR="0" lvl="0" indent="0" algn="l" rtl="0">
              <a:spcBef>
                <a:spcPts val="0"/>
              </a:spcBef>
              <a:spcAft>
                <a:spcPts val="0"/>
              </a:spcAft>
              <a:buNone/>
            </a:pPr>
            <a:r>
              <a:rPr lang="en-US" sz="1200" i="0" u="none" strike="noStrike" cap="none">
                <a:latin typeface="Montserrat"/>
                <a:ea typeface="Montserrat"/>
                <a:cs typeface="Montserrat"/>
                <a:sym typeface="Montserrat"/>
              </a:rPr>
              <a:t>Find ideas and people that resonated, spend no more than a couple mins per person, talk to EVERYONE. Come back to people you click with, find complimentary skill sets (business, creative, technical)Start with the ideas and people that resonated with you and find out more. Most importantly, see who you mesh well with, and try to have a well balanced team with </a:t>
            </a:r>
            <a:r>
              <a:rPr lang="en-US" sz="1200">
                <a:latin typeface="Montserrat"/>
                <a:ea typeface="Montserrat"/>
                <a:cs typeface="Montserrat"/>
                <a:sym typeface="Montserrat"/>
              </a:rPr>
              <a:t>complementary</a:t>
            </a:r>
            <a:r>
              <a:rPr lang="en-US" sz="1200" i="0" u="none" strike="noStrike" cap="none">
                <a:latin typeface="Montserrat"/>
                <a:ea typeface="Montserrat"/>
                <a:cs typeface="Montserrat"/>
                <a:sym typeface="Montserrat"/>
              </a:rPr>
              <a:t> skills. A balanced team includes people that can build product, people that can think through the user's experience, who can help put together a kick ass presentation and story, people who can validate the product and business, and people who have a great understanding of</a:t>
            </a:r>
            <a:r>
              <a:rPr lang="en-US" sz="1200">
                <a:latin typeface="Montserrat"/>
                <a:ea typeface="Montserrat"/>
                <a:cs typeface="Montserrat"/>
                <a:sym typeface="Montserrat"/>
              </a:rPr>
              <a:t> the technical aspects of the project.</a:t>
            </a:r>
            <a:endParaRPr sz="1200">
              <a:latin typeface="Montserrat"/>
              <a:ea typeface="Montserrat"/>
              <a:cs typeface="Montserrat"/>
              <a:sym typeface="Montserra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Shape 67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679" name="Shape 679"/>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Font typeface="Arial"/>
              <a:buNone/>
            </a:pPr>
            <a:r>
              <a:rPr lang="en-US" sz="1400" b="1">
                <a:solidFill>
                  <a:schemeClr val="dk1"/>
                </a:solidFill>
                <a:latin typeface="Helvetica Neue"/>
                <a:ea typeface="Helvetica Neue"/>
                <a:cs typeface="Helvetica Neue"/>
                <a:sym typeface="Helvetica Neue"/>
              </a:rPr>
              <a:t>What to do:</a:t>
            </a:r>
            <a:endParaRPr sz="1400">
              <a:solidFill>
                <a:schemeClr val="dk1"/>
              </a:solidFill>
              <a:latin typeface="Helvetica Neue"/>
              <a:ea typeface="Helvetica Neue"/>
              <a:cs typeface="Helvetica Neue"/>
              <a:sym typeface="Helvetica Neue"/>
            </a:endParaRPr>
          </a:p>
          <a:p>
            <a:pPr marL="0" lvl="0" indent="0" rtl="0">
              <a:spcBef>
                <a:spcPts val="0"/>
              </a:spcBef>
              <a:spcAft>
                <a:spcPts val="0"/>
              </a:spcAft>
              <a:buClr>
                <a:schemeClr val="dk1"/>
              </a:buClr>
              <a:buFont typeface="Arial"/>
              <a:buNone/>
            </a:pPr>
            <a:r>
              <a:rPr lang="en-US" sz="1400">
                <a:solidFill>
                  <a:schemeClr val="dk1"/>
                </a:solidFill>
                <a:latin typeface="Helvetica Neue"/>
                <a:ea typeface="Helvetica Neue"/>
                <a:cs typeface="Helvetica Neue"/>
                <a:sym typeface="Helvetica Neue"/>
              </a:rPr>
              <a:t>Give your participants some guidance for the first night. Help them get started.  #1 &amp; #2 will help you keep track of teams and facilitate Mentor/Coaches.</a:t>
            </a:r>
            <a:endParaRPr sz="14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1400" b="1">
              <a:latin typeface="Helvetica Neue"/>
              <a:ea typeface="Helvetica Neue"/>
              <a:cs typeface="Helvetica Neue"/>
              <a:sym typeface="Helvetica Neue"/>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Shape 712"/>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Clr>
                <a:schemeClr val="dk1"/>
              </a:buClr>
              <a:buFont typeface="Arial"/>
              <a:buNone/>
            </a:pPr>
            <a:r>
              <a:rPr lang="en-US" sz="1200" b="1">
                <a:solidFill>
                  <a:schemeClr val="dk1"/>
                </a:solidFill>
                <a:latin typeface="Montserrat"/>
                <a:ea typeface="Montserrat"/>
                <a:cs typeface="Montserrat"/>
                <a:sym typeface="Montserrat"/>
              </a:rPr>
              <a:t>What to do:</a:t>
            </a:r>
            <a:endParaRPr sz="1200">
              <a:solidFill>
                <a:schemeClr val="dk1"/>
              </a:solidFill>
              <a:latin typeface="Montserrat"/>
              <a:ea typeface="Montserrat"/>
              <a:cs typeface="Montserrat"/>
              <a:sym typeface="Montserrat"/>
            </a:endParaRPr>
          </a:p>
          <a:p>
            <a:pPr marL="0" lvl="0" indent="0">
              <a:spcBef>
                <a:spcPts val="0"/>
              </a:spcBef>
              <a:spcAft>
                <a:spcPts val="0"/>
              </a:spcAft>
              <a:buNone/>
            </a:pPr>
            <a:r>
              <a:rPr lang="en-US" sz="1200">
                <a:solidFill>
                  <a:schemeClr val="dk1"/>
                </a:solidFill>
                <a:latin typeface="Montserrat"/>
                <a:ea typeface="Montserrat"/>
                <a:cs typeface="Montserrat"/>
                <a:sym typeface="Montserrat"/>
              </a:rPr>
              <a:t>Let ‘em loose! Time for the attendees to form teams. </a:t>
            </a:r>
            <a:endParaRPr sz="1200">
              <a:latin typeface="Montserrat"/>
              <a:ea typeface="Montserrat"/>
              <a:cs typeface="Montserrat"/>
              <a:sym typeface="Montserrat"/>
            </a:endParaRPr>
          </a:p>
        </p:txBody>
      </p:sp>
      <p:sp>
        <p:nvSpPr>
          <p:cNvPr id="713" name="Shape 71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1270000" y="1638300"/>
            <a:ext cx="10464800" cy="3302000"/>
          </a:xfrm>
          <a:prstGeom prst="rect">
            <a:avLst/>
          </a:prstGeom>
          <a:noFill/>
          <a:ln>
            <a:noFill/>
          </a:ln>
        </p:spPr>
        <p:txBody>
          <a:bodyPr spcFirstLastPara="1" wrap="square" lIns="91425" tIns="91425" rIns="91425" bIns="91425" anchor="b" anchorCtr="0"/>
          <a:lstStyle>
            <a:lvl1pPr marL="0" marR="0" lvl="0" indent="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3" name="Shape 13"/>
          <p:cNvSpPr txBox="1">
            <a:spLocks noGrp="1"/>
          </p:cNvSpPr>
          <p:nvPr>
            <p:ph type="body" idx="1"/>
          </p:nvPr>
        </p:nvSpPr>
        <p:spPr>
          <a:xfrm>
            <a:off x="1270000" y="5029200"/>
            <a:ext cx="10464800" cy="11303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1pPr>
            <a:lvl2pPr marL="914400" marR="0" lvl="1"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2pPr>
            <a:lvl3pPr marL="1371600" marR="0" lvl="2"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3pPr>
            <a:lvl4pPr marL="1828800" marR="0" lvl="3"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4pPr>
            <a:lvl5pPr marL="2286000" marR="0" lvl="4"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4" name="Shape 14"/>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Subtitle">
  <p:cSld name="Title &amp; Subtitle">
    <p:spTree>
      <p:nvGrpSpPr>
        <p:cNvPr id="1" name="Shape 15"/>
        <p:cNvGrpSpPr/>
        <p:nvPr/>
      </p:nvGrpSpPr>
      <p:grpSpPr>
        <a:xfrm>
          <a:off x="0" y="0"/>
          <a:ext cx="0" cy="0"/>
          <a:chOff x="0" y="0"/>
          <a:chExt cx="0" cy="0"/>
        </a:xfrm>
      </p:grpSpPr>
      <p:sp>
        <p:nvSpPr>
          <p:cNvPr id="16" name="Shape 16"/>
          <p:cNvSpPr txBox="1">
            <a:spLocks noGrp="1"/>
          </p:cNvSpPr>
          <p:nvPr>
            <p:ph type="title"/>
          </p:nvPr>
        </p:nvSpPr>
        <p:spPr>
          <a:xfrm>
            <a:off x="1270000" y="1638300"/>
            <a:ext cx="10464800" cy="3302000"/>
          </a:xfrm>
          <a:prstGeom prst="rect">
            <a:avLst/>
          </a:prstGeom>
          <a:noFill/>
          <a:ln>
            <a:noFill/>
          </a:ln>
        </p:spPr>
        <p:txBody>
          <a:bodyPr spcFirstLastPara="1" wrap="square" lIns="91425" tIns="91425" rIns="91425" bIns="91425" anchor="b" anchorCtr="0"/>
          <a:lstStyle>
            <a:lvl1pPr marL="0" marR="0" lvl="0" indent="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7" name="Shape 17"/>
          <p:cNvSpPr txBox="1">
            <a:spLocks noGrp="1"/>
          </p:cNvSpPr>
          <p:nvPr>
            <p:ph type="body" idx="1"/>
          </p:nvPr>
        </p:nvSpPr>
        <p:spPr>
          <a:xfrm>
            <a:off x="1270000" y="5029200"/>
            <a:ext cx="10464800" cy="11303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1pPr>
            <a:lvl2pPr marL="914400" marR="0" lvl="1"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2pPr>
            <a:lvl3pPr marL="1371600" marR="0" lvl="2"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3pPr>
            <a:lvl4pPr marL="1828800" marR="0" lvl="3"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4pPr>
            <a:lvl5pPr marL="2286000" marR="0" lvl="4"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8" name="Shape 18"/>
          <p:cNvSpPr txBox="1">
            <a:spLocks noGrp="1"/>
          </p:cNvSpPr>
          <p:nvPr>
            <p:ph type="sldNum" idx="12"/>
          </p:nvPr>
        </p:nvSpPr>
        <p:spPr>
          <a:xfrm>
            <a:off x="6285652" y="8645172"/>
            <a:ext cx="3034455" cy="269241"/>
          </a:xfrm>
          <a:prstGeom prst="rect">
            <a:avLst/>
          </a:prstGeom>
          <a:noFill/>
          <a:ln>
            <a:noFill/>
          </a:ln>
        </p:spPr>
        <p:txBody>
          <a:bodyPr spcFirstLastPara="1" wrap="square" lIns="45700" tIns="45700" rIns="45700" bIns="45700" anchor="ctr" anchorCtr="0">
            <a:noAutofit/>
          </a:bodyPr>
          <a:lstStyle>
            <a:lvl1pPr marL="0" marR="0" lvl="0"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21"/>
        <p:cNvGrpSpPr/>
        <p:nvPr/>
      </p:nvGrpSpPr>
      <p:grpSpPr>
        <a:xfrm>
          <a:off x="0" y="0"/>
          <a:ext cx="0" cy="0"/>
          <a:chOff x="0" y="0"/>
          <a:chExt cx="0" cy="0"/>
        </a:xfrm>
      </p:grpSpPr>
      <p:sp>
        <p:nvSpPr>
          <p:cNvPr id="22" name="Shape 22"/>
          <p:cNvSpPr>
            <a:spLocks noGrp="1"/>
          </p:cNvSpPr>
          <p:nvPr>
            <p:ph type="pic" idx="2"/>
          </p:nvPr>
        </p:nvSpPr>
        <p:spPr>
          <a:xfrm>
            <a:off x="1606550" y="635000"/>
            <a:ext cx="9779000" cy="5918200"/>
          </a:xfrm>
          <a:prstGeom prst="rect">
            <a:avLst/>
          </a:prstGeom>
          <a:noFill/>
          <a:ln>
            <a:noFill/>
          </a:ln>
        </p:spPr>
        <p:txBody>
          <a:bodyPr spcFirstLastPara="1" wrap="square" lIns="91425" tIns="91425" rIns="91425" bIns="91425" anchor="t" anchorCtr="0"/>
          <a:lstStyle>
            <a:lvl1pPr marL="444500" marR="0" lvl="0"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889000" marR="0" lvl="1"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33500" marR="0" lvl="2"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778000" marR="0" lvl="3"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22500" marR="0" lvl="4"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667000" marR="0" lvl="5"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111500" marR="0" lvl="6"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556000" marR="0" lvl="7"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000500" marR="0" lvl="8"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23" name="Shape 23"/>
          <p:cNvSpPr txBox="1">
            <a:spLocks noGrp="1"/>
          </p:cNvSpPr>
          <p:nvPr>
            <p:ph type="title"/>
          </p:nvPr>
        </p:nvSpPr>
        <p:spPr>
          <a:xfrm>
            <a:off x="1270000" y="6718300"/>
            <a:ext cx="10464800" cy="1422400"/>
          </a:xfrm>
          <a:prstGeom prst="rect">
            <a:avLst/>
          </a:prstGeom>
          <a:noFill/>
          <a:ln>
            <a:noFill/>
          </a:ln>
        </p:spPr>
        <p:txBody>
          <a:bodyPr spcFirstLastPara="1" wrap="square" lIns="91425" tIns="91425" rIns="91425" bIns="91425" anchor="b" anchorCtr="0"/>
          <a:lstStyle>
            <a:lvl1pPr marL="0" marR="0" lvl="0" indent="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24" name="Shape 24"/>
          <p:cNvSpPr txBox="1">
            <a:spLocks noGrp="1"/>
          </p:cNvSpPr>
          <p:nvPr>
            <p:ph type="body" idx="1"/>
          </p:nvPr>
        </p:nvSpPr>
        <p:spPr>
          <a:xfrm>
            <a:off x="1270000" y="8191500"/>
            <a:ext cx="10464800" cy="11303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1pPr>
            <a:lvl2pPr marL="914400" marR="0" lvl="1"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2pPr>
            <a:lvl3pPr marL="1371600" marR="0" lvl="2"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3pPr>
            <a:lvl4pPr marL="1828800" marR="0" lvl="3"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4pPr>
            <a:lvl5pPr marL="2286000" marR="0" lvl="4"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25" name="Shape 25"/>
          <p:cNvSpPr txBox="1">
            <a:spLocks noGrp="1"/>
          </p:cNvSpPr>
          <p:nvPr>
            <p:ph type="sldNum" idx="12"/>
          </p:nvPr>
        </p:nvSpPr>
        <p:spPr>
          <a:xfrm>
            <a:off x="6311798" y="924560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26"/>
        <p:cNvGrpSpPr/>
        <p:nvPr/>
      </p:nvGrpSpPr>
      <p:grpSpPr>
        <a:xfrm>
          <a:off x="0" y="0"/>
          <a:ext cx="0" cy="0"/>
          <a:chOff x="0" y="0"/>
          <a:chExt cx="0" cy="0"/>
        </a:xfrm>
      </p:grpSpPr>
      <p:sp>
        <p:nvSpPr>
          <p:cNvPr id="27" name="Shape 27"/>
          <p:cNvSpPr txBox="1">
            <a:spLocks noGrp="1"/>
          </p:cNvSpPr>
          <p:nvPr>
            <p:ph type="title"/>
          </p:nvPr>
        </p:nvSpPr>
        <p:spPr>
          <a:xfrm>
            <a:off x="1270000" y="3225800"/>
            <a:ext cx="10464800" cy="33020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28" name="Shape 2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9"/>
        <p:cNvGrpSpPr/>
        <p:nvPr/>
      </p:nvGrpSpPr>
      <p:grpSpPr>
        <a:xfrm>
          <a:off x="0" y="0"/>
          <a:ext cx="0" cy="0"/>
          <a:chOff x="0" y="0"/>
          <a:chExt cx="0" cy="0"/>
        </a:xfrm>
      </p:grpSpPr>
      <p:sp>
        <p:nvSpPr>
          <p:cNvPr id="30" name="Shape 30"/>
          <p:cNvSpPr>
            <a:spLocks noGrp="1"/>
          </p:cNvSpPr>
          <p:nvPr>
            <p:ph type="pic" idx="2"/>
          </p:nvPr>
        </p:nvSpPr>
        <p:spPr>
          <a:xfrm>
            <a:off x="6718300" y="635000"/>
            <a:ext cx="5334000" cy="8229600"/>
          </a:xfrm>
          <a:prstGeom prst="rect">
            <a:avLst/>
          </a:prstGeom>
          <a:noFill/>
          <a:ln>
            <a:noFill/>
          </a:ln>
        </p:spPr>
        <p:txBody>
          <a:bodyPr spcFirstLastPara="1" wrap="square" lIns="91425" tIns="91425" rIns="91425" bIns="91425" anchor="t" anchorCtr="0"/>
          <a:lstStyle>
            <a:lvl1pPr marL="444500" marR="0" lvl="0"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889000" marR="0" lvl="1"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33500" marR="0" lvl="2"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778000" marR="0" lvl="3"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22500" marR="0" lvl="4"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667000" marR="0" lvl="5"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111500" marR="0" lvl="6"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556000" marR="0" lvl="7"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000500" marR="0" lvl="8"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31" name="Shape 31"/>
          <p:cNvSpPr txBox="1">
            <a:spLocks noGrp="1"/>
          </p:cNvSpPr>
          <p:nvPr>
            <p:ph type="title"/>
          </p:nvPr>
        </p:nvSpPr>
        <p:spPr>
          <a:xfrm>
            <a:off x="952500" y="635000"/>
            <a:ext cx="5334000" cy="3987800"/>
          </a:xfrm>
          <a:prstGeom prst="rect">
            <a:avLst/>
          </a:prstGeom>
          <a:noFill/>
          <a:ln>
            <a:noFill/>
          </a:ln>
        </p:spPr>
        <p:txBody>
          <a:bodyPr spcFirstLastPara="1" wrap="square" lIns="91425" tIns="91425" rIns="91425" bIns="91425" anchor="b" anchorCtr="0"/>
          <a:lstStyle>
            <a:lvl1pPr marL="0" marR="0" lvl="0" indent="0" algn="ctr" rtl="0">
              <a:lnSpc>
                <a:spcPct val="100000"/>
              </a:lnSpc>
              <a:spcBef>
                <a:spcPts val="0"/>
              </a:spcBef>
              <a:spcAft>
                <a:spcPts val="0"/>
              </a:spcAft>
              <a:buClr>
                <a:srgbClr val="000000"/>
              </a:buClr>
              <a:buSzPts val="1400"/>
              <a:buFont typeface="Helvetica Neue Light"/>
              <a:buNone/>
              <a:defRPr sz="6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32" name="Shape 32"/>
          <p:cNvSpPr txBox="1">
            <a:spLocks noGrp="1"/>
          </p:cNvSpPr>
          <p:nvPr>
            <p:ph type="body" idx="1"/>
          </p:nvPr>
        </p:nvSpPr>
        <p:spPr>
          <a:xfrm>
            <a:off x="952500" y="4762500"/>
            <a:ext cx="5334000" cy="41021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1pPr>
            <a:lvl2pPr marL="914400" marR="0" lvl="1"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2pPr>
            <a:lvl3pPr marL="1371600" marR="0" lvl="2"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3pPr>
            <a:lvl4pPr marL="1828800" marR="0" lvl="3"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4pPr>
            <a:lvl5pPr marL="2286000" marR="0" lvl="4" indent="-228600" algn="ctr" rtl="0">
              <a:lnSpc>
                <a:spcPct val="100000"/>
              </a:lnSpc>
              <a:spcBef>
                <a:spcPts val="0"/>
              </a:spcBef>
              <a:spcAft>
                <a:spcPts val="0"/>
              </a:spcAft>
              <a:buClr>
                <a:srgbClr val="000000"/>
              </a:buClr>
              <a:buSzPts val="2700"/>
              <a:buFont typeface="Helvetica Neue Light"/>
              <a:buNone/>
              <a:defRPr sz="32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33" name="Shape 33"/>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952500" y="444500"/>
            <a:ext cx="11099800" cy="21590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36" name="Shape 36"/>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952500" y="444500"/>
            <a:ext cx="11099800" cy="21590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39" name="Shape 39"/>
          <p:cNvSpPr txBox="1">
            <a:spLocks noGrp="1"/>
          </p:cNvSpPr>
          <p:nvPr>
            <p:ph type="body" idx="1"/>
          </p:nvPr>
        </p:nvSpPr>
        <p:spPr>
          <a:xfrm>
            <a:off x="952500" y="2603500"/>
            <a:ext cx="11099800" cy="6286500"/>
          </a:xfrm>
          <a:prstGeom prst="rect">
            <a:avLst/>
          </a:prstGeom>
          <a:noFill/>
          <a:ln>
            <a:noFill/>
          </a:ln>
        </p:spPr>
        <p:txBody>
          <a:bodyPr spcFirstLastPara="1" wrap="square" lIns="91425" tIns="91425" rIns="91425" bIns="91425" anchor="ctr" anchorCtr="0"/>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40" name="Shape 4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41"/>
        <p:cNvGrpSpPr/>
        <p:nvPr/>
      </p:nvGrpSpPr>
      <p:grpSpPr>
        <a:xfrm>
          <a:off x="0" y="0"/>
          <a:ext cx="0" cy="0"/>
          <a:chOff x="0" y="0"/>
          <a:chExt cx="0" cy="0"/>
        </a:xfrm>
      </p:grpSpPr>
      <p:sp>
        <p:nvSpPr>
          <p:cNvPr id="42" name="Shape 42"/>
          <p:cNvSpPr>
            <a:spLocks noGrp="1"/>
          </p:cNvSpPr>
          <p:nvPr>
            <p:ph type="pic" idx="2"/>
          </p:nvPr>
        </p:nvSpPr>
        <p:spPr>
          <a:xfrm>
            <a:off x="6718300" y="2603500"/>
            <a:ext cx="5334000" cy="6286500"/>
          </a:xfrm>
          <a:prstGeom prst="rect">
            <a:avLst/>
          </a:prstGeom>
          <a:noFill/>
          <a:ln>
            <a:noFill/>
          </a:ln>
        </p:spPr>
        <p:txBody>
          <a:bodyPr spcFirstLastPara="1" wrap="square" lIns="91425" tIns="91425" rIns="91425" bIns="91425" anchor="t" anchorCtr="0"/>
          <a:lstStyle>
            <a:lvl1pPr marL="444500" marR="0" lvl="0"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889000" marR="0" lvl="1"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33500" marR="0" lvl="2"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778000" marR="0" lvl="3"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22500" marR="0" lvl="4"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667000" marR="0" lvl="5"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111500" marR="0" lvl="6"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556000" marR="0" lvl="7"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000500" marR="0" lvl="8"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43" name="Shape 43"/>
          <p:cNvSpPr txBox="1">
            <a:spLocks noGrp="1"/>
          </p:cNvSpPr>
          <p:nvPr>
            <p:ph type="title"/>
          </p:nvPr>
        </p:nvSpPr>
        <p:spPr>
          <a:xfrm>
            <a:off x="952500" y="444500"/>
            <a:ext cx="11099800" cy="21590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44" name="Shape 44"/>
          <p:cNvSpPr txBox="1">
            <a:spLocks noGrp="1"/>
          </p:cNvSpPr>
          <p:nvPr>
            <p:ph type="body" idx="1"/>
          </p:nvPr>
        </p:nvSpPr>
        <p:spPr>
          <a:xfrm>
            <a:off x="952500" y="2603500"/>
            <a:ext cx="5334000" cy="6286500"/>
          </a:xfrm>
          <a:prstGeom prst="rect">
            <a:avLst/>
          </a:prstGeom>
          <a:noFill/>
          <a:ln>
            <a:noFill/>
          </a:ln>
        </p:spPr>
        <p:txBody>
          <a:bodyPr spcFirstLastPara="1" wrap="square" lIns="91425" tIns="91425" rIns="91425" bIns="91425" anchor="ctr" anchorCtr="0"/>
          <a:lstStyle>
            <a:lvl1pPr marL="457200" marR="0" lvl="0" indent="-361950" algn="l" rtl="0">
              <a:lnSpc>
                <a:spcPct val="100000"/>
              </a:lnSpc>
              <a:spcBef>
                <a:spcPts val="3200"/>
              </a:spcBef>
              <a:spcAft>
                <a:spcPts val="0"/>
              </a:spcAft>
              <a:buClr>
                <a:srgbClr val="000000"/>
              </a:buClr>
              <a:buSzPts val="21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1pPr>
            <a:lvl2pPr marL="914400" marR="0" lvl="1" indent="-361950" algn="l" rtl="0">
              <a:lnSpc>
                <a:spcPct val="100000"/>
              </a:lnSpc>
              <a:spcBef>
                <a:spcPts val="3200"/>
              </a:spcBef>
              <a:spcAft>
                <a:spcPts val="0"/>
              </a:spcAft>
              <a:buClr>
                <a:srgbClr val="000000"/>
              </a:buClr>
              <a:buSzPts val="21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2pPr>
            <a:lvl3pPr marL="1371600" marR="0" lvl="2" indent="-361950" algn="l" rtl="0">
              <a:lnSpc>
                <a:spcPct val="100000"/>
              </a:lnSpc>
              <a:spcBef>
                <a:spcPts val="3200"/>
              </a:spcBef>
              <a:spcAft>
                <a:spcPts val="0"/>
              </a:spcAft>
              <a:buClr>
                <a:srgbClr val="000000"/>
              </a:buClr>
              <a:buSzPts val="21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3pPr>
            <a:lvl4pPr marL="1828800" marR="0" lvl="3" indent="-361950" algn="l" rtl="0">
              <a:lnSpc>
                <a:spcPct val="100000"/>
              </a:lnSpc>
              <a:spcBef>
                <a:spcPts val="3200"/>
              </a:spcBef>
              <a:spcAft>
                <a:spcPts val="0"/>
              </a:spcAft>
              <a:buClr>
                <a:srgbClr val="000000"/>
              </a:buClr>
              <a:buSzPts val="21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4pPr>
            <a:lvl5pPr marL="2286000" marR="0" lvl="4" indent="-361950" algn="l" rtl="0">
              <a:lnSpc>
                <a:spcPct val="100000"/>
              </a:lnSpc>
              <a:spcBef>
                <a:spcPts val="3200"/>
              </a:spcBef>
              <a:spcAft>
                <a:spcPts val="0"/>
              </a:spcAft>
              <a:buClr>
                <a:srgbClr val="000000"/>
              </a:buClr>
              <a:buSzPts val="2100"/>
              <a:buFont typeface="Helvetica Neue Light"/>
              <a:buChar char="•"/>
              <a:defRPr sz="28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45" name="Shape 45"/>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46"/>
        <p:cNvGrpSpPr/>
        <p:nvPr/>
      </p:nvGrpSpPr>
      <p:grpSpPr>
        <a:xfrm>
          <a:off x="0" y="0"/>
          <a:ext cx="0" cy="0"/>
          <a:chOff x="0" y="0"/>
          <a:chExt cx="0" cy="0"/>
        </a:xfrm>
      </p:grpSpPr>
      <p:sp>
        <p:nvSpPr>
          <p:cNvPr id="47" name="Shape 47"/>
          <p:cNvSpPr txBox="1">
            <a:spLocks noGrp="1"/>
          </p:cNvSpPr>
          <p:nvPr>
            <p:ph type="body" idx="1"/>
          </p:nvPr>
        </p:nvSpPr>
        <p:spPr>
          <a:xfrm>
            <a:off x="952500" y="1270000"/>
            <a:ext cx="11099800" cy="7213600"/>
          </a:xfrm>
          <a:prstGeom prst="rect">
            <a:avLst/>
          </a:prstGeom>
          <a:noFill/>
          <a:ln>
            <a:noFill/>
          </a:ln>
        </p:spPr>
        <p:txBody>
          <a:bodyPr spcFirstLastPara="1" wrap="square" lIns="91425" tIns="91425" rIns="91425" bIns="91425" anchor="ctr" anchorCtr="0"/>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48" name="Shape 4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49"/>
        <p:cNvGrpSpPr/>
        <p:nvPr/>
      </p:nvGrpSpPr>
      <p:grpSpPr>
        <a:xfrm>
          <a:off x="0" y="0"/>
          <a:ext cx="0" cy="0"/>
          <a:chOff x="0" y="0"/>
          <a:chExt cx="0" cy="0"/>
        </a:xfrm>
      </p:grpSpPr>
      <p:sp>
        <p:nvSpPr>
          <p:cNvPr id="50" name="Shape 50"/>
          <p:cNvSpPr>
            <a:spLocks noGrp="1"/>
          </p:cNvSpPr>
          <p:nvPr>
            <p:ph type="pic" idx="2"/>
          </p:nvPr>
        </p:nvSpPr>
        <p:spPr>
          <a:xfrm>
            <a:off x="952500" y="889000"/>
            <a:ext cx="5334000" cy="7975600"/>
          </a:xfrm>
          <a:prstGeom prst="rect">
            <a:avLst/>
          </a:prstGeom>
          <a:noFill/>
          <a:ln>
            <a:noFill/>
          </a:ln>
        </p:spPr>
        <p:txBody>
          <a:bodyPr spcFirstLastPara="1" wrap="square" lIns="91425" tIns="91425" rIns="91425" bIns="91425" anchor="t" anchorCtr="0"/>
          <a:lstStyle>
            <a:lvl1pPr marL="444500" marR="0" lvl="0"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889000" marR="0" lvl="1"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33500" marR="0" lvl="2"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778000" marR="0" lvl="3"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22500" marR="0" lvl="4"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667000" marR="0" lvl="5"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111500" marR="0" lvl="6"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556000" marR="0" lvl="7"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000500" marR="0" lvl="8"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1" name="Shape 51"/>
          <p:cNvSpPr>
            <a:spLocks noGrp="1"/>
          </p:cNvSpPr>
          <p:nvPr>
            <p:ph type="pic" idx="3"/>
          </p:nvPr>
        </p:nvSpPr>
        <p:spPr>
          <a:xfrm>
            <a:off x="6718300" y="5092700"/>
            <a:ext cx="5334000" cy="3771900"/>
          </a:xfrm>
          <a:prstGeom prst="rect">
            <a:avLst/>
          </a:prstGeom>
          <a:noFill/>
          <a:ln>
            <a:noFill/>
          </a:ln>
        </p:spPr>
        <p:txBody>
          <a:bodyPr spcFirstLastPara="1" wrap="square" lIns="91425" tIns="91425" rIns="91425" bIns="91425" anchor="t" anchorCtr="0"/>
          <a:lstStyle>
            <a:lvl1pPr marL="444500" marR="0" lvl="0"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889000" marR="0" lvl="1"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33500" marR="0" lvl="2"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778000" marR="0" lvl="3"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22500" marR="0" lvl="4"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667000" marR="0" lvl="5"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111500" marR="0" lvl="6"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556000" marR="0" lvl="7"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000500" marR="0" lvl="8"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2" name="Shape 52"/>
          <p:cNvSpPr>
            <a:spLocks noGrp="1"/>
          </p:cNvSpPr>
          <p:nvPr>
            <p:ph type="pic" idx="4"/>
          </p:nvPr>
        </p:nvSpPr>
        <p:spPr>
          <a:xfrm>
            <a:off x="6724518" y="889000"/>
            <a:ext cx="5334001" cy="3771900"/>
          </a:xfrm>
          <a:prstGeom prst="rect">
            <a:avLst/>
          </a:prstGeom>
          <a:noFill/>
          <a:ln>
            <a:noFill/>
          </a:ln>
        </p:spPr>
        <p:txBody>
          <a:bodyPr spcFirstLastPara="1" wrap="square" lIns="91425" tIns="91425" rIns="91425" bIns="91425" anchor="t" anchorCtr="0"/>
          <a:lstStyle>
            <a:lvl1pPr marL="444500" marR="0" lvl="0"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889000" marR="0" lvl="1"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33500" marR="0" lvl="2"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778000" marR="0" lvl="3"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22500" marR="0" lvl="4"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667000" marR="0" lvl="5"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111500" marR="0" lvl="6"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556000" marR="0" lvl="7"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000500" marR="0" lvl="8"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3" name="Shape 53"/>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4"/>
        <p:cNvGrpSpPr/>
        <p:nvPr/>
      </p:nvGrpSpPr>
      <p:grpSpPr>
        <a:xfrm>
          <a:off x="0" y="0"/>
          <a:ext cx="0" cy="0"/>
          <a:chOff x="0" y="0"/>
          <a:chExt cx="0" cy="0"/>
        </a:xfrm>
      </p:grpSpPr>
      <p:sp>
        <p:nvSpPr>
          <p:cNvPr id="55" name="Shape 55"/>
          <p:cNvSpPr txBox="1">
            <a:spLocks noGrp="1"/>
          </p:cNvSpPr>
          <p:nvPr>
            <p:ph type="body" idx="1"/>
          </p:nvPr>
        </p:nvSpPr>
        <p:spPr>
          <a:xfrm>
            <a:off x="1270000" y="6362700"/>
            <a:ext cx="10464800" cy="469900"/>
          </a:xfrm>
          <a:prstGeom prst="rect">
            <a:avLst/>
          </a:prstGeom>
          <a:noFill/>
          <a:ln>
            <a:noFill/>
          </a:ln>
        </p:spPr>
        <p:txBody>
          <a:bodyPr spcFirstLastPara="1" wrap="square" lIns="91425" tIns="91425" rIns="91425" bIns="91425" anchor="ctr" anchorCtr="0"/>
          <a:lstStyle>
            <a:lvl1pPr marL="457200" marR="0" lvl="0" indent="-228600" algn="ctr" rtl="0">
              <a:lnSpc>
                <a:spcPct val="100000"/>
              </a:lnSpc>
              <a:spcBef>
                <a:spcPts val="0"/>
              </a:spcBef>
              <a:spcAft>
                <a:spcPts val="0"/>
              </a:spcAft>
              <a:buClr>
                <a:srgbClr val="000000"/>
              </a:buClr>
              <a:buSzPts val="2700"/>
              <a:buFont typeface="Helvetica Neue"/>
              <a:buNone/>
              <a:defRPr sz="2400" b="0" i="0" u="none" strike="noStrike" cap="none">
                <a:solidFill>
                  <a:srgbClr val="000000"/>
                </a:solidFill>
                <a:latin typeface="Helvetica Neue"/>
                <a:ea typeface="Helvetica Neue"/>
                <a:cs typeface="Helvetica Neue"/>
                <a:sym typeface="Helvetica Neue"/>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6" name="Shape 56"/>
          <p:cNvSpPr txBox="1">
            <a:spLocks noGrp="1"/>
          </p:cNvSpPr>
          <p:nvPr>
            <p:ph type="body" idx="2"/>
          </p:nvPr>
        </p:nvSpPr>
        <p:spPr>
          <a:xfrm>
            <a:off x="1270000" y="4267200"/>
            <a:ext cx="10464800" cy="685800"/>
          </a:xfrm>
          <a:prstGeom prst="rect">
            <a:avLst/>
          </a:prstGeom>
          <a:noFill/>
          <a:ln>
            <a:noFill/>
          </a:ln>
        </p:spPr>
        <p:txBody>
          <a:bodyPr spcFirstLastPara="1" wrap="square" lIns="91425" tIns="91425" rIns="91425" bIns="91425" anchor="ctr" anchorCtr="0"/>
          <a:lstStyle>
            <a:lvl1pPr marL="457200" marR="0" lvl="0" indent="-228600" algn="ctr" rtl="0">
              <a:lnSpc>
                <a:spcPct val="100000"/>
              </a:lnSpc>
              <a:spcBef>
                <a:spcPts val="0"/>
              </a:spcBef>
              <a:spcAft>
                <a:spcPts val="0"/>
              </a:spcAft>
              <a:buClr>
                <a:srgbClr val="000000"/>
              </a:buClr>
              <a:buSzPts val="2700"/>
              <a:buFont typeface="Helvetica Neue Light"/>
              <a:buNone/>
              <a:defRPr sz="38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7" name="Shape 57"/>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58"/>
        <p:cNvGrpSpPr/>
        <p:nvPr/>
      </p:nvGrpSpPr>
      <p:grpSpPr>
        <a:xfrm>
          <a:off x="0" y="0"/>
          <a:ext cx="0" cy="0"/>
          <a:chOff x="0" y="0"/>
          <a:chExt cx="0" cy="0"/>
        </a:xfrm>
      </p:grpSpPr>
      <p:sp>
        <p:nvSpPr>
          <p:cNvPr id="59" name="Shape 59"/>
          <p:cNvSpPr>
            <a:spLocks noGrp="1"/>
          </p:cNvSpPr>
          <p:nvPr>
            <p:ph type="pic" idx="2"/>
          </p:nvPr>
        </p:nvSpPr>
        <p:spPr>
          <a:xfrm>
            <a:off x="0" y="0"/>
            <a:ext cx="12999418" cy="9753600"/>
          </a:xfrm>
          <a:prstGeom prst="rect">
            <a:avLst/>
          </a:prstGeom>
          <a:noFill/>
          <a:ln>
            <a:noFill/>
          </a:ln>
        </p:spPr>
        <p:txBody>
          <a:bodyPr spcFirstLastPara="1" wrap="square" lIns="91425" tIns="91425" rIns="91425" bIns="91425" anchor="t" anchorCtr="0"/>
          <a:lstStyle>
            <a:lvl1pPr marL="444500" marR="0" lvl="0"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889000" marR="0" lvl="1"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33500" marR="0" lvl="2"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778000" marR="0" lvl="3"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22500" marR="0" lvl="4"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667000" marR="0" lvl="5"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111500" marR="0" lvl="6"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556000" marR="0" lvl="7"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000500" marR="0" lvl="8" indent="-44450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60" name="Shape 6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mp; Subtitle">
  <p:cSld name="Title &amp; Subtitle 2">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1270000" y="1638300"/>
            <a:ext cx="10464800" cy="3301999"/>
          </a:xfrm>
          <a:prstGeom prst="rect">
            <a:avLst/>
          </a:prstGeom>
          <a:noFill/>
          <a:ln>
            <a:noFill/>
          </a:ln>
        </p:spPr>
        <p:txBody>
          <a:bodyPr spcFirstLastPara="1" wrap="square" lIns="91425" tIns="91425" rIns="91425" bIns="91425" anchor="b" anchorCtr="0"/>
          <a:lstStyle>
            <a:lvl1pPr marL="0" marR="0" lvl="0" indent="0" algn="ctr" rtl="0">
              <a:lnSpc>
                <a:spcPct val="100000"/>
              </a:lnSpc>
              <a:spcBef>
                <a:spcPts val="0"/>
              </a:spcBef>
              <a:spcAft>
                <a:spcPts val="0"/>
              </a:spcAft>
              <a:buClr>
                <a:srgbClr val="000000"/>
              </a:buClr>
              <a:buSzPts val="1400"/>
              <a:buFont typeface="Helvetica Neue"/>
              <a:buNone/>
              <a:defRPr sz="8000" b="0" i="0" u="none" strike="noStrike" cap="none">
                <a:solidFill>
                  <a:srgbClr val="000000"/>
                </a:solidFill>
                <a:latin typeface="Helvetica Neue"/>
                <a:ea typeface="Helvetica Neue"/>
                <a:cs typeface="Helvetica Neue"/>
                <a:sym typeface="Helvetica Neue"/>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63" name="Shape 63"/>
          <p:cNvSpPr txBox="1">
            <a:spLocks noGrp="1"/>
          </p:cNvSpPr>
          <p:nvPr>
            <p:ph type="body" idx="1"/>
          </p:nvPr>
        </p:nvSpPr>
        <p:spPr>
          <a:xfrm>
            <a:off x="1270000" y="5029200"/>
            <a:ext cx="10464800" cy="1130300"/>
          </a:xfrm>
          <a:prstGeom prst="rect">
            <a:avLst/>
          </a:prstGeom>
          <a:noFill/>
          <a:ln>
            <a:noFill/>
          </a:ln>
        </p:spPr>
        <p:txBody>
          <a:bodyPr spcFirstLastPara="1" wrap="square" lIns="91425" tIns="91425" rIns="91425" bIns="91425" anchor="t" anchorCtr="0"/>
          <a:lstStyle>
            <a:lvl1pPr marL="457200" marR="0" lvl="0" indent="-228600" algn="ctr" rtl="0">
              <a:lnSpc>
                <a:spcPct val="100000"/>
              </a:lnSpc>
              <a:spcBef>
                <a:spcPts val="0"/>
              </a:spcBef>
              <a:spcAft>
                <a:spcPts val="0"/>
              </a:spcAft>
              <a:buClr>
                <a:srgbClr val="000000"/>
              </a:buClr>
              <a:buSzPts val="2700"/>
              <a:buFont typeface="Helvetica Neue"/>
              <a:buNone/>
              <a:defRPr sz="32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2700"/>
              <a:buFont typeface="Helvetica Neue"/>
              <a:buNone/>
              <a:defRPr sz="32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2700"/>
              <a:buFont typeface="Helvetica Neue"/>
              <a:buNone/>
              <a:defRPr sz="32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2700"/>
              <a:buFont typeface="Helvetica Neue"/>
              <a:buNone/>
              <a:defRPr sz="32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2700"/>
              <a:buFont typeface="Helvetica Neue"/>
              <a:buNone/>
              <a:defRPr sz="3200" b="0" i="0" u="none" strike="noStrike" cap="none">
                <a:solidFill>
                  <a:srgbClr val="000000"/>
                </a:solidFill>
                <a:latin typeface="Helvetica Neue"/>
                <a:ea typeface="Helvetica Neue"/>
                <a:cs typeface="Helvetica Neue"/>
                <a:sym typeface="Helvetica Neue"/>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64" name="Shape 64"/>
          <p:cNvSpPr txBox="1">
            <a:spLocks noGrp="1"/>
          </p:cNvSpPr>
          <p:nvPr>
            <p:ph type="sldNum" idx="12"/>
          </p:nvPr>
        </p:nvSpPr>
        <p:spPr>
          <a:xfrm>
            <a:off x="6311798" y="9251950"/>
            <a:ext cx="368504" cy="3746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952500" y="444500"/>
            <a:ext cx="11099800" cy="21590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L="0" marR="0" lvl="1" indent="228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L="0" marR="0" lvl="2" indent="457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L="0" marR="0" lvl="3" indent="685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L="0" marR="0" lvl="4" indent="9144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L="0" marR="0" lvl="5" indent="11430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L="0" marR="0" lvl="6" indent="13716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L="0" marR="0" lvl="7" indent="16002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L="0" marR="0" lvl="8" indent="1828800" algn="ctr" rtl="0">
              <a:lnSpc>
                <a:spcPct val="100000"/>
              </a:lnSpc>
              <a:spcBef>
                <a:spcPts val="0"/>
              </a:spcBef>
              <a:spcAft>
                <a:spcPts val="0"/>
              </a:spcAft>
              <a:buClr>
                <a:srgbClr val="000000"/>
              </a:buClr>
              <a:buSzPts val="14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Shape 7"/>
          <p:cNvSpPr txBox="1">
            <a:spLocks noGrp="1"/>
          </p:cNvSpPr>
          <p:nvPr>
            <p:ph type="body" idx="1"/>
          </p:nvPr>
        </p:nvSpPr>
        <p:spPr>
          <a:xfrm>
            <a:off x="952500" y="2603500"/>
            <a:ext cx="11099800" cy="6286500"/>
          </a:xfrm>
          <a:prstGeom prst="rect">
            <a:avLst/>
          </a:prstGeom>
          <a:noFill/>
          <a:ln>
            <a:noFill/>
          </a:ln>
        </p:spPr>
        <p:txBody>
          <a:bodyPr spcFirstLastPara="1" wrap="square" lIns="91425" tIns="91425" rIns="91425" bIns="91425" anchor="ctr" anchorCtr="0"/>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 name="Shape 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spcBef>
                <a:spcPts val="0"/>
              </a:spcBef>
              <a:spcAft>
                <a:spcPts val="0"/>
              </a:spcAft>
              <a:buNone/>
            </a:pPr>
            <a:fld id="{00000000-1234-1234-1234-123412341234}" type="slidenum">
              <a:rPr lang="en-US"/>
              <a:pPr marL="0" lvl="0" indent="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www.brettwhysel.com/" TargetMode="Externa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7" name="Picture 6" descr="LSUSW.PNG"/>
          <p:cNvPicPr>
            <a:picLocks noChangeAspect="1"/>
          </p:cNvPicPr>
          <p:nvPr/>
        </p:nvPicPr>
        <p:blipFill>
          <a:blip r:embed="rId3"/>
          <a:stretch>
            <a:fillRect/>
          </a:stretch>
        </p:blipFill>
        <p:spPr>
          <a:xfrm>
            <a:off x="0" y="-1171872"/>
            <a:ext cx="13004800" cy="12868625"/>
          </a:xfrm>
          <a:prstGeom prst="rect">
            <a:avLst/>
          </a:prstGeom>
        </p:spPr>
      </p:pic>
      <p:pic>
        <p:nvPicPr>
          <p:cNvPr id="174" name="Shape 174" descr="pasted-image.pdf"/>
          <p:cNvPicPr preferRelativeResize="0"/>
          <p:nvPr/>
        </p:nvPicPr>
        <p:blipFill rotWithShape="1">
          <a:blip r:embed="rId4">
            <a:alphaModFix/>
          </a:blip>
          <a:srcRect/>
          <a:stretch/>
        </p:blipFill>
        <p:spPr>
          <a:xfrm>
            <a:off x="11734800" y="8820549"/>
            <a:ext cx="927000" cy="593700"/>
          </a:xfrm>
          <a:prstGeom prst="rect">
            <a:avLst/>
          </a:prstGeom>
          <a:noFill/>
          <a:ln>
            <a:noFill/>
          </a:ln>
        </p:spPr>
      </p:pic>
      <p:pic>
        <p:nvPicPr>
          <p:cNvPr id="9" name="Picture 8" descr="LSUSW.PNG"/>
          <p:cNvPicPr>
            <a:picLocks noChangeAspect="1"/>
          </p:cNvPicPr>
          <p:nvPr/>
        </p:nvPicPr>
        <p:blipFill>
          <a:blip r:embed="rId3"/>
          <a:stretch>
            <a:fillRect/>
          </a:stretch>
        </p:blipFill>
        <p:spPr>
          <a:xfrm>
            <a:off x="1528170" y="1369215"/>
            <a:ext cx="9948461" cy="9844289"/>
          </a:xfrm>
          <a:prstGeom prst="rect">
            <a:avLst/>
          </a:prstGeom>
        </p:spPr>
      </p:pic>
      <p:pic>
        <p:nvPicPr>
          <p:cNvPr id="11" name="Picture 10" descr="LSUSW.PNG"/>
          <p:cNvPicPr>
            <a:picLocks noChangeAspect="1"/>
          </p:cNvPicPr>
          <p:nvPr/>
        </p:nvPicPr>
        <p:blipFill>
          <a:blip r:embed="rId3"/>
          <a:srcRect r="1562"/>
          <a:stretch>
            <a:fillRect/>
          </a:stretch>
        </p:blipFill>
        <p:spPr>
          <a:xfrm>
            <a:off x="1749872" y="73071"/>
            <a:ext cx="9793088" cy="9844289"/>
          </a:xfrm>
          <a:prstGeom prst="rect">
            <a:avLst/>
          </a:prstGeom>
        </p:spPr>
      </p:pic>
      <p:pic>
        <p:nvPicPr>
          <p:cNvPr id="10" name="Picture 9" descr="LSUSW.PNG"/>
          <p:cNvPicPr>
            <a:picLocks noChangeAspect="1"/>
          </p:cNvPicPr>
          <p:nvPr/>
        </p:nvPicPr>
        <p:blipFill>
          <a:blip r:embed="rId3"/>
          <a:srcRect r="1589"/>
          <a:stretch>
            <a:fillRect/>
          </a:stretch>
        </p:blipFill>
        <p:spPr>
          <a:xfrm>
            <a:off x="1680570" y="1348408"/>
            <a:ext cx="9790382" cy="9844289"/>
          </a:xfrm>
          <a:prstGeom prst="rect">
            <a:avLst/>
          </a:prstGeom>
        </p:spPr>
      </p:pic>
      <p:sp>
        <p:nvSpPr>
          <p:cNvPr id="173" name="Shape 173"/>
          <p:cNvSpPr/>
          <p:nvPr/>
        </p:nvSpPr>
        <p:spPr>
          <a:xfrm>
            <a:off x="1605856" y="340296"/>
            <a:ext cx="9793088" cy="2655673"/>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A3842"/>
              </a:buClr>
              <a:buFont typeface="Montserrat"/>
              <a:buNone/>
            </a:pPr>
            <a:r>
              <a:rPr lang="en-US" sz="6000" dirty="0" smtClean="0">
                <a:solidFill>
                  <a:srgbClr val="2A3842"/>
                </a:solidFill>
                <a:latin typeface="Montserrat"/>
                <a:ea typeface="Montserrat"/>
                <a:cs typeface="Montserrat"/>
                <a:sym typeface="Montserrat"/>
              </a:rPr>
              <a:t>W</a:t>
            </a:r>
            <a:r>
              <a:rPr lang="en-US" sz="6000" b="0" i="0" u="none" strike="noStrike" cap="none" dirty="0" smtClean="0">
                <a:solidFill>
                  <a:srgbClr val="2A3842"/>
                </a:solidFill>
                <a:latin typeface="Montserrat"/>
                <a:ea typeface="Montserrat"/>
                <a:cs typeface="Montserrat"/>
                <a:sym typeface="Montserrat"/>
              </a:rPr>
              <a:t>elcome t</a:t>
            </a:r>
            <a:r>
              <a:rPr lang="en-US" sz="6000" dirty="0" smtClean="0">
                <a:solidFill>
                  <a:srgbClr val="2A3842"/>
                </a:solidFill>
                <a:latin typeface="Montserrat"/>
                <a:ea typeface="Montserrat"/>
                <a:cs typeface="Montserrat"/>
                <a:sym typeface="Montserrat"/>
              </a:rPr>
              <a:t>o</a:t>
            </a:r>
            <a:endParaRPr sz="6000" dirty="0" smtClean="0">
              <a:solidFill>
                <a:srgbClr val="2A3842"/>
              </a:solidFill>
              <a:latin typeface="Montserrat"/>
              <a:ea typeface="Montserrat"/>
              <a:cs typeface="Montserrat"/>
              <a:sym typeface="Montserrat"/>
            </a:endParaRPr>
          </a:p>
          <a:p>
            <a:pPr marL="0" marR="0" lvl="0" indent="0" algn="ctr" rtl="0">
              <a:lnSpc>
                <a:spcPct val="100000"/>
              </a:lnSpc>
              <a:spcBef>
                <a:spcPts val="0"/>
              </a:spcBef>
              <a:spcAft>
                <a:spcPts val="0"/>
              </a:spcAft>
              <a:buClr>
                <a:srgbClr val="2A3842"/>
              </a:buClr>
              <a:buFont typeface="Montserrat"/>
              <a:buNone/>
            </a:pPr>
            <a:r>
              <a:rPr lang="en-US" sz="6000" dirty="0" smtClean="0">
                <a:solidFill>
                  <a:srgbClr val="2A3842"/>
                </a:solidFill>
                <a:latin typeface="Montserrat"/>
                <a:ea typeface="Montserrat"/>
                <a:cs typeface="Montserrat"/>
                <a:sym typeface="Montserrat"/>
              </a:rPr>
              <a:t>STARTUP WEEKEND</a:t>
            </a:r>
            <a:endParaRPr sz="6000" dirty="0" smtClean="0">
              <a:solidFill>
                <a:srgbClr val="2A3842"/>
              </a:solidFill>
              <a:latin typeface="Montserrat"/>
              <a:ea typeface="Montserrat"/>
              <a:cs typeface="Montserrat"/>
              <a:sym typeface="Montserrat"/>
            </a:endParaRPr>
          </a:p>
          <a:p>
            <a:pPr marL="0" marR="0" lvl="0" indent="0" algn="ctr" rtl="0">
              <a:lnSpc>
                <a:spcPct val="100000"/>
              </a:lnSpc>
              <a:spcBef>
                <a:spcPts val="0"/>
              </a:spcBef>
              <a:spcAft>
                <a:spcPts val="0"/>
              </a:spcAft>
              <a:buClr>
                <a:srgbClr val="2A3842"/>
              </a:buClr>
              <a:buFont typeface="Montserrat"/>
              <a:buNone/>
            </a:pPr>
            <a:endParaRPr sz="4000" dirty="0">
              <a:solidFill>
                <a:srgbClr val="2A3842"/>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pic>
        <p:nvPicPr>
          <p:cNvPr id="320" name="Shape 320" descr="gcreamer_selects_5312017_boulderres-53.jpg"/>
          <p:cNvPicPr preferRelativeResize="0"/>
          <p:nvPr/>
        </p:nvPicPr>
        <p:blipFill rotWithShape="1">
          <a:blip r:embed="rId3">
            <a:alphaModFix/>
          </a:blip>
          <a:srcRect/>
          <a:stretch/>
        </p:blipFill>
        <p:spPr>
          <a:xfrm>
            <a:off x="-305357" y="-1493280"/>
            <a:ext cx="14153400" cy="11425800"/>
          </a:xfrm>
          <a:prstGeom prst="rect">
            <a:avLst/>
          </a:prstGeom>
          <a:noFill/>
          <a:ln>
            <a:noFill/>
          </a:ln>
        </p:spPr>
      </p:pic>
      <p:grpSp>
        <p:nvGrpSpPr>
          <p:cNvPr id="321" name="Shape 321"/>
          <p:cNvGrpSpPr/>
          <p:nvPr/>
        </p:nvGrpSpPr>
        <p:grpSpPr>
          <a:xfrm>
            <a:off x="-305357" y="-883680"/>
            <a:ext cx="14153400" cy="11425800"/>
            <a:chOff x="-305357" y="-883680"/>
            <a:chExt cx="14153400" cy="11425800"/>
          </a:xfrm>
        </p:grpSpPr>
        <p:pic>
          <p:nvPicPr>
            <p:cNvPr id="322" name="Shape 322" descr="19055012_1894464557473853_5175214481089441585_o.jpg"/>
            <p:cNvPicPr preferRelativeResize="0"/>
            <p:nvPr/>
          </p:nvPicPr>
          <p:blipFill rotWithShape="1">
            <a:blip r:embed="rId4">
              <a:alphaModFix/>
            </a:blip>
            <a:srcRect l="8718" r="8718"/>
            <a:stretch/>
          </p:blipFill>
          <p:spPr>
            <a:xfrm>
              <a:off x="-305357" y="-883680"/>
              <a:ext cx="14153400" cy="11425800"/>
            </a:xfrm>
            <a:prstGeom prst="rect">
              <a:avLst/>
            </a:prstGeom>
            <a:noFill/>
            <a:ln>
              <a:noFill/>
            </a:ln>
          </p:spPr>
        </p:pic>
        <p:sp>
          <p:nvSpPr>
            <p:cNvPr id="323" name="Shape 323"/>
            <p:cNvSpPr txBox="1"/>
            <p:nvPr/>
          </p:nvSpPr>
          <p:spPr>
            <a:xfrm>
              <a:off x="10921425" y="9832750"/>
              <a:ext cx="2888400" cy="6444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r>
                <a:rPr lang="en-US" sz="1800">
                  <a:latin typeface="Montserrat"/>
                  <a:ea typeface="Montserrat"/>
                  <a:cs typeface="Montserrat"/>
                  <a:sym typeface="Montserrat"/>
                </a:rPr>
                <a:t>Photo Credit: </a:t>
              </a:r>
              <a:r>
                <a:rPr lang="en-US" sz="1800">
                  <a:solidFill>
                    <a:schemeClr val="dk1"/>
                  </a:solidFill>
                  <a:highlight>
                    <a:srgbClr val="FFFFFF"/>
                  </a:highlight>
                  <a:latin typeface="Montserrat"/>
                  <a:ea typeface="Montserrat"/>
                  <a:cs typeface="Montserrat"/>
                  <a:sym typeface="Montserrat"/>
                </a:rPr>
                <a:t> </a:t>
              </a:r>
              <a:r>
                <a:rPr lang="en-US" sz="1800" u="sng">
                  <a:solidFill>
                    <a:srgbClr val="1155CC"/>
                  </a:solidFill>
                  <a:latin typeface="Montserrat"/>
                  <a:ea typeface="Montserrat"/>
                  <a:cs typeface="Montserrat"/>
                  <a:sym typeface="Montserrat"/>
                  <a:hlinkClick r:id="rId5"/>
                </a:rPr>
                <a:t>www.brettwhysel.com</a:t>
              </a:r>
              <a:endParaRPr sz="1800">
                <a:latin typeface="Montserrat"/>
                <a:ea typeface="Montserrat"/>
                <a:cs typeface="Montserrat"/>
                <a:sym typeface="Montserrat"/>
              </a:endParaRPr>
            </a:p>
          </p:txBody>
        </p:sp>
      </p:grpSp>
      <p:sp>
        <p:nvSpPr>
          <p:cNvPr id="324" name="Shape 324"/>
          <p:cNvSpPr/>
          <p:nvPr/>
        </p:nvSpPr>
        <p:spPr>
          <a:xfrm>
            <a:off x="-528112" y="-10633072"/>
            <a:ext cx="14670600" cy="15077100"/>
          </a:xfrm>
          <a:prstGeom prst="ellipse">
            <a:avLst/>
          </a:prstGeom>
          <a:solidFill>
            <a:srgbClr val="2C3841"/>
          </a:solidFill>
          <a:ln w="76200" cap="flat" cmpd="sng">
            <a:solidFill>
              <a:srgbClr val="2C3841"/>
            </a:solidFill>
            <a:prstDash val="solid"/>
            <a:miter lim="8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A3842"/>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pic>
        <p:nvPicPr>
          <p:cNvPr id="325" name="Shape 325" descr="pasted-image.pdf"/>
          <p:cNvPicPr preferRelativeResize="0"/>
          <p:nvPr/>
        </p:nvPicPr>
        <p:blipFill rotWithShape="1">
          <a:blip r:embed="rId6">
            <a:alphaModFix/>
          </a:blip>
          <a:srcRect/>
          <a:stretch/>
        </p:blipFill>
        <p:spPr>
          <a:xfrm>
            <a:off x="2928579" y="7740564"/>
            <a:ext cx="7147500" cy="1226400"/>
          </a:xfrm>
          <a:prstGeom prst="rect">
            <a:avLst/>
          </a:prstGeom>
          <a:noFill/>
          <a:ln>
            <a:noFill/>
          </a:ln>
        </p:spPr>
      </p:pic>
      <p:sp>
        <p:nvSpPr>
          <p:cNvPr id="326" name="Shape 326"/>
          <p:cNvSpPr/>
          <p:nvPr/>
        </p:nvSpPr>
        <p:spPr>
          <a:xfrm>
            <a:off x="2754624" y="241892"/>
            <a:ext cx="7495500" cy="3200400"/>
          </a:xfrm>
          <a:prstGeom prst="rect">
            <a:avLst/>
          </a:prstGeom>
          <a:noFill/>
          <a:ln>
            <a:noFill/>
          </a:ln>
          <a:effectLst>
            <a:outerShdw blurRad="63500" dist="25400" dir="5400000" rotWithShape="0">
              <a:srgbClr val="000000">
                <a:alpha val="14510"/>
              </a:srgbClr>
            </a:outerShdw>
          </a:effectLst>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Montserrat"/>
              <a:buNone/>
            </a:pPr>
            <a:r>
              <a:rPr lang="en-US" sz="5000">
                <a:solidFill>
                  <a:srgbClr val="FFFFFF"/>
                </a:solidFill>
                <a:latin typeface="Montserrat"/>
                <a:ea typeface="Montserrat"/>
                <a:cs typeface="Montserrat"/>
                <a:sym typeface="Montserrat"/>
              </a:rPr>
              <a:t>O</a:t>
            </a:r>
            <a:r>
              <a:rPr lang="en-US" sz="5000" b="0" i="0" u="none" strike="noStrike" cap="none">
                <a:solidFill>
                  <a:srgbClr val="FFFFFF"/>
                </a:solidFill>
                <a:latin typeface="Montserrat"/>
                <a:ea typeface="Montserrat"/>
                <a:cs typeface="Montserrat"/>
                <a:sym typeface="Montserrat"/>
              </a:rPr>
              <a:t>ur mission is to inspire change in the lives of entrepreneurs </a:t>
            </a:r>
            <a:r>
              <a:rPr lang="en-US" sz="5000" b="1" i="0" u="none" strike="noStrike" cap="none">
                <a:solidFill>
                  <a:srgbClr val="FFFFFF"/>
                </a:solidFill>
                <a:latin typeface="Montserrat"/>
                <a:ea typeface="Montserrat"/>
                <a:cs typeface="Montserrat"/>
                <a:sym typeface="Montserrat"/>
              </a:rPr>
              <a:t>like you.</a:t>
            </a:r>
            <a:endParaRPr/>
          </a:p>
        </p:txBody>
      </p:sp>
      <p:sp>
        <p:nvSpPr>
          <p:cNvPr id="327" name="Shape 327"/>
          <p:cNvSpPr/>
          <p:nvPr/>
        </p:nvSpPr>
        <p:spPr>
          <a:xfrm rot="-1669082">
            <a:off x="-3237620" y="7311700"/>
            <a:ext cx="2300793" cy="1618269"/>
          </a:xfrm>
          <a:prstGeom prst="rightArrow">
            <a:avLst>
              <a:gd name="adj1" fmla="val 50000"/>
              <a:gd name="adj2" fmla="val 50000"/>
            </a:avLst>
          </a:prstGeom>
          <a:solidFill>
            <a:srgbClr val="C6203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r>
              <a:rPr lang="en-US" sz="2400">
                <a:latin typeface="Montserrat"/>
                <a:ea typeface="Montserrat"/>
                <a:cs typeface="Montserrat"/>
                <a:sym typeface="Montserrat"/>
              </a:rPr>
              <a:t>Image options</a:t>
            </a:r>
            <a:endParaRPr sz="2400">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B14B"/>
        </a:solidFill>
        <a:effectLst/>
      </p:bgPr>
    </p:bg>
    <p:spTree>
      <p:nvGrpSpPr>
        <p:cNvPr id="1" name="Shape 463"/>
        <p:cNvGrpSpPr/>
        <p:nvPr/>
      </p:nvGrpSpPr>
      <p:grpSpPr>
        <a:xfrm>
          <a:off x="0" y="0"/>
          <a:ext cx="0" cy="0"/>
          <a:chOff x="0" y="0"/>
          <a:chExt cx="0" cy="0"/>
        </a:xfrm>
      </p:grpSpPr>
      <p:sp>
        <p:nvSpPr>
          <p:cNvPr id="464" name="Shape 464"/>
          <p:cNvSpPr/>
          <p:nvPr/>
        </p:nvSpPr>
        <p:spPr>
          <a:xfrm>
            <a:off x="1141249" y="4254500"/>
            <a:ext cx="10722300" cy="1244700"/>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Montserrat"/>
              <a:buNone/>
            </a:pPr>
            <a:r>
              <a:rPr lang="en-US" sz="7000" b="1">
                <a:solidFill>
                  <a:srgbClr val="FFFFFF"/>
                </a:solidFill>
                <a:latin typeface="Montserrat"/>
                <a:ea typeface="Montserrat"/>
                <a:cs typeface="Montserrat"/>
                <a:sym typeface="Montserrat"/>
              </a:rPr>
              <a:t>What will you do this weekend?</a:t>
            </a:r>
            <a:endParaRPr/>
          </a:p>
        </p:txBody>
      </p:sp>
      <p:pic>
        <p:nvPicPr>
          <p:cNvPr id="465" name="Shape 465" descr="pasted-image.pdf"/>
          <p:cNvPicPr preferRelativeResize="0"/>
          <p:nvPr/>
        </p:nvPicPr>
        <p:blipFill rotWithShape="1">
          <a:blip r:embed="rId3">
            <a:alphaModFix/>
          </a:blip>
          <a:srcRect/>
          <a:stretch/>
        </p:blipFill>
        <p:spPr>
          <a:xfrm>
            <a:off x="11734800" y="8820549"/>
            <a:ext cx="927100" cy="5936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pic>
        <p:nvPicPr>
          <p:cNvPr id="470" name="Shape 470" descr="Collaboration11.jpg"/>
          <p:cNvPicPr preferRelativeResize="0"/>
          <p:nvPr/>
        </p:nvPicPr>
        <p:blipFill rotWithShape="1">
          <a:blip r:embed="rId3">
            <a:alphaModFix/>
          </a:blip>
          <a:srcRect l="17766" r="17766"/>
          <a:stretch/>
        </p:blipFill>
        <p:spPr>
          <a:xfrm>
            <a:off x="-3188300" y="-1609600"/>
            <a:ext cx="12509400" cy="12127500"/>
          </a:xfrm>
          <a:prstGeom prst="ellipse">
            <a:avLst/>
          </a:prstGeom>
          <a:noFill/>
          <a:ln>
            <a:noFill/>
          </a:ln>
        </p:spPr>
      </p:pic>
      <p:pic>
        <p:nvPicPr>
          <p:cNvPr id="471" name="Shape 471" descr="_DSC2212.JPG"/>
          <p:cNvPicPr preferRelativeResize="0"/>
          <p:nvPr/>
        </p:nvPicPr>
        <p:blipFill rotWithShape="1">
          <a:blip r:embed="rId4">
            <a:alphaModFix/>
          </a:blip>
          <a:srcRect l="4990" t="-3693" r="21301" b="-3372"/>
          <a:stretch/>
        </p:blipFill>
        <p:spPr>
          <a:xfrm>
            <a:off x="-3188300" y="-1609600"/>
            <a:ext cx="12509400" cy="12127500"/>
          </a:xfrm>
          <a:prstGeom prst="ellipse">
            <a:avLst/>
          </a:prstGeom>
          <a:noFill/>
          <a:ln>
            <a:noFill/>
          </a:ln>
        </p:spPr>
      </p:pic>
      <p:sp>
        <p:nvSpPr>
          <p:cNvPr id="472" name="Shape 472"/>
          <p:cNvSpPr/>
          <p:nvPr/>
        </p:nvSpPr>
        <p:spPr>
          <a:xfrm>
            <a:off x="9520585" y="3617449"/>
            <a:ext cx="2399700" cy="1498500"/>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A3842"/>
              </a:buClr>
              <a:buFont typeface="Montserrat"/>
              <a:buNone/>
            </a:pPr>
            <a:r>
              <a:rPr lang="en-US" sz="4500" b="0" i="0" u="none" strike="noStrike" cap="none">
                <a:solidFill>
                  <a:srgbClr val="2A3842"/>
                </a:solidFill>
                <a:latin typeface="Montserrat"/>
                <a:ea typeface="Montserrat"/>
                <a:cs typeface="Montserrat"/>
                <a:sym typeface="Montserrat"/>
              </a:rPr>
              <a:t>learn</a:t>
            </a:r>
            <a:r>
              <a:rPr lang="en-US" sz="4500" b="0" i="0" u="none" strike="noStrike" cap="none">
                <a:solidFill>
                  <a:srgbClr val="0DB14B"/>
                </a:solidFill>
                <a:latin typeface="Montserrat"/>
                <a:ea typeface="Montserrat"/>
                <a:cs typeface="Montserrat"/>
                <a:sym typeface="Montserrat"/>
              </a:rPr>
              <a:t> a </a:t>
            </a:r>
            <a:endParaRPr/>
          </a:p>
          <a:p>
            <a:pPr marL="0" marR="0" lvl="0" indent="0" algn="ctr" rtl="0">
              <a:lnSpc>
                <a:spcPct val="100000"/>
              </a:lnSpc>
              <a:spcBef>
                <a:spcPts val="0"/>
              </a:spcBef>
              <a:spcAft>
                <a:spcPts val="0"/>
              </a:spcAft>
              <a:buClr>
                <a:srgbClr val="0DB14B"/>
              </a:buClr>
              <a:buFont typeface="Montserrat"/>
              <a:buNone/>
            </a:pPr>
            <a:r>
              <a:rPr lang="en-US" sz="4500" b="0" i="0" u="none" strike="noStrike" cap="none">
                <a:solidFill>
                  <a:srgbClr val="0DB14B"/>
                </a:solidFill>
                <a:latin typeface="Montserrat"/>
                <a:ea typeface="Montserrat"/>
                <a:cs typeface="Montserrat"/>
                <a:sym typeface="Montserrat"/>
              </a:rPr>
              <a:t>new skill</a:t>
            </a:r>
            <a:endParaRPr/>
          </a:p>
        </p:txBody>
      </p:sp>
      <p:sp>
        <p:nvSpPr>
          <p:cNvPr id="473" name="Shape 473"/>
          <p:cNvSpPr/>
          <p:nvPr/>
        </p:nvSpPr>
        <p:spPr>
          <a:xfrm>
            <a:off x="9068650" y="1271025"/>
            <a:ext cx="3303600" cy="1498500"/>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A3842"/>
              </a:buClr>
              <a:buFont typeface="Montserrat"/>
              <a:buNone/>
            </a:pPr>
            <a:r>
              <a:rPr lang="en-US" sz="4500">
                <a:solidFill>
                  <a:srgbClr val="2A3842"/>
                </a:solidFill>
                <a:latin typeface="Montserrat"/>
                <a:ea typeface="Montserrat"/>
                <a:cs typeface="Montserrat"/>
                <a:sym typeface="Montserrat"/>
              </a:rPr>
              <a:t>validate an</a:t>
            </a:r>
            <a:endParaRPr/>
          </a:p>
          <a:p>
            <a:pPr marL="0" marR="0" lvl="0" indent="0" algn="ctr" rtl="0">
              <a:lnSpc>
                <a:spcPct val="100000"/>
              </a:lnSpc>
              <a:spcBef>
                <a:spcPts val="0"/>
              </a:spcBef>
              <a:spcAft>
                <a:spcPts val="0"/>
              </a:spcAft>
              <a:buClr>
                <a:srgbClr val="0DB14B"/>
              </a:buClr>
              <a:buFont typeface="Montserrat"/>
              <a:buNone/>
            </a:pPr>
            <a:r>
              <a:rPr lang="en-US" sz="4500" b="0" i="0" u="none" strike="noStrike" cap="none">
                <a:solidFill>
                  <a:srgbClr val="0DB14B"/>
                </a:solidFill>
                <a:latin typeface="Montserrat"/>
                <a:ea typeface="Montserrat"/>
                <a:cs typeface="Montserrat"/>
                <a:sym typeface="Montserrat"/>
              </a:rPr>
              <a:t>idea</a:t>
            </a:r>
            <a:endParaRPr/>
          </a:p>
        </p:txBody>
      </p:sp>
      <p:sp>
        <p:nvSpPr>
          <p:cNvPr id="474" name="Shape 474"/>
          <p:cNvSpPr/>
          <p:nvPr/>
        </p:nvSpPr>
        <p:spPr>
          <a:xfrm>
            <a:off x="8138197" y="5963984"/>
            <a:ext cx="5164500" cy="2895600"/>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0DB14B"/>
              </a:buClr>
              <a:buFont typeface="Montserrat"/>
              <a:buNone/>
            </a:pPr>
            <a:r>
              <a:rPr lang="en-US" sz="4500" b="0" i="0" u="none" strike="noStrike" cap="none">
                <a:solidFill>
                  <a:srgbClr val="0DB14B"/>
                </a:solidFill>
                <a:latin typeface="Montserrat"/>
                <a:ea typeface="Montserrat"/>
                <a:cs typeface="Montserrat"/>
                <a:sym typeface="Montserrat"/>
              </a:rPr>
              <a:t>meet</a:t>
            </a:r>
            <a:r>
              <a:rPr lang="en-US" sz="4500" b="0" i="0" u="none" strike="noStrike" cap="none">
                <a:solidFill>
                  <a:srgbClr val="2A3842"/>
                </a:solidFill>
                <a:latin typeface="Montserrat"/>
                <a:ea typeface="Montserrat"/>
                <a:cs typeface="Montserrat"/>
                <a:sym typeface="Montserrat"/>
              </a:rPr>
              <a:t> a </a:t>
            </a:r>
            <a:endParaRPr/>
          </a:p>
          <a:p>
            <a:pPr marL="0" marR="0" lvl="0" indent="0" algn="ctr" rtl="0">
              <a:lnSpc>
                <a:spcPct val="100000"/>
              </a:lnSpc>
              <a:spcBef>
                <a:spcPts val="0"/>
              </a:spcBef>
              <a:spcAft>
                <a:spcPts val="0"/>
              </a:spcAft>
              <a:buClr>
                <a:srgbClr val="2A3842"/>
              </a:buClr>
              <a:buFont typeface="Montserrat"/>
              <a:buNone/>
            </a:pPr>
            <a:r>
              <a:rPr lang="en-US" sz="4500" b="0" i="0" u="none" strike="noStrike" cap="none">
                <a:solidFill>
                  <a:srgbClr val="2A3842"/>
                </a:solidFill>
                <a:latin typeface="Montserrat"/>
                <a:ea typeface="Montserrat"/>
                <a:cs typeface="Montserrat"/>
                <a:sym typeface="Montserrat"/>
              </a:rPr>
              <a:t>cofounder </a:t>
            </a:r>
            <a:endParaRPr/>
          </a:p>
          <a:p>
            <a:pPr marL="0" marR="0" lvl="0" indent="0" algn="ctr" rtl="0">
              <a:lnSpc>
                <a:spcPct val="100000"/>
              </a:lnSpc>
              <a:spcBef>
                <a:spcPts val="0"/>
              </a:spcBef>
              <a:spcAft>
                <a:spcPts val="0"/>
              </a:spcAft>
              <a:buClr>
                <a:srgbClr val="2A3842"/>
              </a:buClr>
              <a:buFont typeface="Montserrat"/>
              <a:buNone/>
            </a:pPr>
            <a:r>
              <a:rPr lang="en-US" sz="4500" b="0" i="0" u="none" strike="noStrike" cap="none">
                <a:solidFill>
                  <a:srgbClr val="2A3842"/>
                </a:solidFill>
                <a:latin typeface="Montserrat"/>
                <a:ea typeface="Montserrat"/>
                <a:cs typeface="Montserrat"/>
                <a:sym typeface="Montserrat"/>
              </a:rPr>
              <a:t>and </a:t>
            </a:r>
            <a:r>
              <a:rPr lang="en-US" sz="4500" b="0" i="0" u="none" strike="noStrike" cap="none">
                <a:solidFill>
                  <a:srgbClr val="0DB14B"/>
                </a:solidFill>
                <a:latin typeface="Montserrat"/>
                <a:ea typeface="Montserrat"/>
                <a:cs typeface="Montserrat"/>
                <a:sym typeface="Montserrat"/>
              </a:rPr>
              <a:t>build</a:t>
            </a:r>
            <a:r>
              <a:rPr lang="en-US" sz="4500" b="0" i="0" u="none" strike="noStrike" cap="none">
                <a:solidFill>
                  <a:srgbClr val="2A3842"/>
                </a:solidFill>
                <a:latin typeface="Montserrat"/>
                <a:ea typeface="Montserrat"/>
                <a:cs typeface="Montserrat"/>
                <a:sym typeface="Montserrat"/>
              </a:rPr>
              <a:t> </a:t>
            </a:r>
            <a:endParaRPr/>
          </a:p>
          <a:p>
            <a:pPr marL="0" marR="0" lvl="0" indent="0" algn="ctr" rtl="0">
              <a:lnSpc>
                <a:spcPct val="100000"/>
              </a:lnSpc>
              <a:spcBef>
                <a:spcPts val="0"/>
              </a:spcBef>
              <a:spcAft>
                <a:spcPts val="0"/>
              </a:spcAft>
              <a:buClr>
                <a:srgbClr val="2A3842"/>
              </a:buClr>
              <a:buFont typeface="Montserrat"/>
              <a:buNone/>
            </a:pPr>
            <a:r>
              <a:rPr lang="en-US" sz="4500" b="0" i="0" u="none" strike="noStrike" cap="none">
                <a:solidFill>
                  <a:srgbClr val="2A3842"/>
                </a:solidFill>
                <a:latin typeface="Montserrat"/>
                <a:ea typeface="Montserrat"/>
                <a:cs typeface="Montserrat"/>
                <a:sym typeface="Montserrat"/>
              </a:rPr>
              <a:t>a team</a:t>
            </a:r>
            <a:endParaRPr/>
          </a:p>
        </p:txBody>
      </p:sp>
      <p:sp>
        <p:nvSpPr>
          <p:cNvPr id="475" name="Shape 475"/>
          <p:cNvSpPr/>
          <p:nvPr/>
        </p:nvSpPr>
        <p:spPr>
          <a:xfrm rot="-1669082">
            <a:off x="-4819295" y="7407550"/>
            <a:ext cx="2300793" cy="1618269"/>
          </a:xfrm>
          <a:prstGeom prst="rightArrow">
            <a:avLst>
              <a:gd name="adj1" fmla="val 50000"/>
              <a:gd name="adj2" fmla="val 50000"/>
            </a:avLst>
          </a:prstGeom>
          <a:solidFill>
            <a:srgbClr val="C6203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r>
              <a:rPr lang="en-US" sz="2400">
                <a:latin typeface="Montserrat"/>
                <a:ea typeface="Montserrat"/>
                <a:cs typeface="Montserrat"/>
                <a:sym typeface="Montserrat"/>
              </a:rPr>
              <a:t>Image options</a:t>
            </a:r>
            <a:endParaRPr sz="2400">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Shape 480"/>
          <p:cNvSpPr/>
          <p:nvPr/>
        </p:nvSpPr>
        <p:spPr>
          <a:xfrm>
            <a:off x="1141249" y="4203700"/>
            <a:ext cx="10722302" cy="1244601"/>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A3842"/>
              </a:buClr>
              <a:buFont typeface="Montserrat"/>
              <a:buNone/>
            </a:pPr>
            <a:r>
              <a:rPr lang="en-US" sz="7000" b="1">
                <a:solidFill>
                  <a:srgbClr val="2A3842"/>
                </a:solidFill>
                <a:latin typeface="Montserrat"/>
                <a:ea typeface="Montserrat"/>
                <a:cs typeface="Montserrat"/>
                <a:sym typeface="Montserrat"/>
              </a:rPr>
              <a:t>W</a:t>
            </a:r>
            <a:r>
              <a:rPr lang="en-US" sz="7000" b="1" i="0" u="none" strike="noStrike" cap="none">
                <a:solidFill>
                  <a:srgbClr val="2A3842"/>
                </a:solidFill>
                <a:latin typeface="Montserrat"/>
                <a:ea typeface="Montserrat"/>
                <a:cs typeface="Montserrat"/>
                <a:sym typeface="Montserrat"/>
              </a:rPr>
              <a:t>eekend </a:t>
            </a:r>
            <a:r>
              <a:rPr lang="en-US" sz="7000" b="1">
                <a:solidFill>
                  <a:srgbClr val="2A3842"/>
                </a:solidFill>
                <a:latin typeface="Montserrat"/>
                <a:ea typeface="Montserrat"/>
                <a:cs typeface="Montserrat"/>
                <a:sym typeface="Montserrat"/>
              </a:rPr>
              <a:t>S</a:t>
            </a:r>
            <a:r>
              <a:rPr lang="en-US" sz="7000" b="1" i="0" u="none" strike="noStrike" cap="none">
                <a:solidFill>
                  <a:srgbClr val="2A3842"/>
                </a:solidFill>
                <a:latin typeface="Montserrat"/>
                <a:ea typeface="Montserrat"/>
                <a:cs typeface="Montserrat"/>
                <a:sym typeface="Montserrat"/>
              </a:rPr>
              <a:t>chedule</a:t>
            </a:r>
            <a:endParaRPr/>
          </a:p>
        </p:txBody>
      </p:sp>
      <p:pic>
        <p:nvPicPr>
          <p:cNvPr id="481" name="Shape 481" descr="pasted-image.pdf"/>
          <p:cNvPicPr preferRelativeResize="0"/>
          <p:nvPr/>
        </p:nvPicPr>
        <p:blipFill rotWithShape="1">
          <a:blip r:embed="rId3">
            <a:alphaModFix/>
          </a:blip>
          <a:srcRect/>
          <a:stretch/>
        </p:blipFill>
        <p:spPr>
          <a:xfrm>
            <a:off x="11736606" y="8808486"/>
            <a:ext cx="930235" cy="59562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3942"/>
        </a:solidFill>
        <a:effectLst/>
      </p:bgPr>
    </p:bg>
    <p:spTree>
      <p:nvGrpSpPr>
        <p:cNvPr id="1" name="Shape 485"/>
        <p:cNvGrpSpPr/>
        <p:nvPr/>
      </p:nvGrpSpPr>
      <p:grpSpPr>
        <a:xfrm>
          <a:off x="0" y="0"/>
          <a:ext cx="0" cy="0"/>
          <a:chOff x="0" y="0"/>
          <a:chExt cx="0" cy="0"/>
        </a:xfrm>
      </p:grpSpPr>
      <p:pic>
        <p:nvPicPr>
          <p:cNvPr id="486" name="Shape 486" descr="pasted-image.pdf"/>
          <p:cNvPicPr preferRelativeResize="0"/>
          <p:nvPr/>
        </p:nvPicPr>
        <p:blipFill rotWithShape="1">
          <a:blip r:embed="rId3">
            <a:alphaModFix/>
          </a:blip>
          <a:srcRect/>
          <a:stretch/>
        </p:blipFill>
        <p:spPr>
          <a:xfrm>
            <a:off x="11736606" y="8808486"/>
            <a:ext cx="930300" cy="595500"/>
          </a:xfrm>
          <a:prstGeom prst="rect">
            <a:avLst/>
          </a:prstGeom>
          <a:noFill/>
          <a:ln>
            <a:noFill/>
          </a:ln>
        </p:spPr>
      </p:pic>
      <p:sp>
        <p:nvSpPr>
          <p:cNvPr id="487" name="Shape 487"/>
          <p:cNvSpPr/>
          <p:nvPr/>
        </p:nvSpPr>
        <p:spPr>
          <a:xfrm>
            <a:off x="627679" y="2776663"/>
            <a:ext cx="3313200" cy="1013100"/>
          </a:xfrm>
          <a:prstGeom prst="roundRect">
            <a:avLst>
              <a:gd name="adj" fmla="val 16667"/>
            </a:avLst>
          </a:prstGeom>
          <a:solidFill>
            <a:srgbClr val="9E9E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a:solidFill>
                  <a:srgbClr val="F3F3F3"/>
                </a:solidFill>
                <a:latin typeface="Montserrat"/>
                <a:ea typeface="Montserrat"/>
                <a:cs typeface="Montserrat"/>
                <a:sym typeface="Montserrat"/>
              </a:rPr>
              <a:t>Tonight</a:t>
            </a:r>
            <a:endParaRPr sz="3600" b="1">
              <a:solidFill>
                <a:srgbClr val="F3F3F3"/>
              </a:solidFill>
              <a:latin typeface="Montserrat"/>
              <a:ea typeface="Montserrat"/>
              <a:cs typeface="Montserrat"/>
              <a:sym typeface="Montserrat"/>
            </a:endParaRPr>
          </a:p>
        </p:txBody>
      </p:sp>
      <p:sp>
        <p:nvSpPr>
          <p:cNvPr id="488" name="Shape 488"/>
          <p:cNvSpPr/>
          <p:nvPr/>
        </p:nvSpPr>
        <p:spPr>
          <a:xfrm>
            <a:off x="627679" y="5908726"/>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Vote</a:t>
            </a:r>
            <a:endParaRPr sz="3000">
              <a:solidFill>
                <a:srgbClr val="F3F3F3"/>
              </a:solidFill>
              <a:latin typeface="Montserrat"/>
              <a:ea typeface="Montserrat"/>
              <a:cs typeface="Montserrat"/>
              <a:sym typeface="Montserrat"/>
            </a:endParaRPr>
          </a:p>
        </p:txBody>
      </p:sp>
      <p:sp>
        <p:nvSpPr>
          <p:cNvPr id="489" name="Shape 489"/>
          <p:cNvSpPr/>
          <p:nvPr/>
        </p:nvSpPr>
        <p:spPr>
          <a:xfrm>
            <a:off x="5646092" y="5908726"/>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Brain Dump</a:t>
            </a:r>
            <a:endParaRPr sz="3000">
              <a:solidFill>
                <a:srgbClr val="F3F3F3"/>
              </a:solidFill>
              <a:latin typeface="Montserrat"/>
              <a:ea typeface="Montserrat"/>
              <a:cs typeface="Montserrat"/>
              <a:sym typeface="Montserrat"/>
            </a:endParaRPr>
          </a:p>
        </p:txBody>
      </p:sp>
      <p:sp>
        <p:nvSpPr>
          <p:cNvPr id="490" name="Shape 490"/>
          <p:cNvSpPr/>
          <p:nvPr/>
        </p:nvSpPr>
        <p:spPr>
          <a:xfrm>
            <a:off x="627679" y="7441625"/>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Form teams</a:t>
            </a:r>
            <a:endParaRPr sz="3000">
              <a:solidFill>
                <a:srgbClr val="F3F3F3"/>
              </a:solidFill>
              <a:latin typeface="Montserrat"/>
              <a:ea typeface="Montserrat"/>
              <a:cs typeface="Montserrat"/>
              <a:sym typeface="Montserrat"/>
            </a:endParaRPr>
          </a:p>
        </p:txBody>
      </p:sp>
      <p:sp>
        <p:nvSpPr>
          <p:cNvPr id="491" name="Shape 491"/>
          <p:cNvSpPr/>
          <p:nvPr/>
        </p:nvSpPr>
        <p:spPr>
          <a:xfrm>
            <a:off x="5646092" y="7441625"/>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Weekend Deliverables</a:t>
            </a:r>
            <a:endParaRPr sz="3000">
              <a:solidFill>
                <a:srgbClr val="F3F3F3"/>
              </a:solidFill>
              <a:latin typeface="Montserrat"/>
              <a:ea typeface="Montserrat"/>
              <a:cs typeface="Montserrat"/>
              <a:sym typeface="Montserrat"/>
            </a:endParaRPr>
          </a:p>
        </p:txBody>
      </p:sp>
      <p:sp>
        <p:nvSpPr>
          <p:cNvPr id="492" name="Shape 492"/>
          <p:cNvSpPr/>
          <p:nvPr/>
        </p:nvSpPr>
        <p:spPr>
          <a:xfrm>
            <a:off x="627679" y="4375828"/>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60 sec Pitches</a:t>
            </a:r>
            <a:endParaRPr sz="3000">
              <a:solidFill>
                <a:srgbClr val="F3F3F3"/>
              </a:solidFill>
              <a:latin typeface="Montserrat"/>
              <a:ea typeface="Montserrat"/>
              <a:cs typeface="Montserrat"/>
              <a:sym typeface="Montserrat"/>
            </a:endParaRPr>
          </a:p>
        </p:txBody>
      </p:sp>
      <p:sp>
        <p:nvSpPr>
          <p:cNvPr id="493" name="Shape 493"/>
          <p:cNvSpPr/>
          <p:nvPr/>
        </p:nvSpPr>
        <p:spPr>
          <a:xfrm>
            <a:off x="5646092" y="4375828"/>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Exchange Contact info</a:t>
            </a:r>
            <a:endParaRPr sz="3000">
              <a:solidFill>
                <a:srgbClr val="F3F3F3"/>
              </a:solidFill>
              <a:latin typeface="Montserrat"/>
              <a:ea typeface="Montserrat"/>
              <a:cs typeface="Montserrat"/>
              <a:sym typeface="Montserrat"/>
            </a:endParaRPr>
          </a:p>
        </p:txBody>
      </p:sp>
      <p:sp>
        <p:nvSpPr>
          <p:cNvPr id="494" name="Shape 494"/>
          <p:cNvSpPr/>
          <p:nvPr/>
        </p:nvSpPr>
        <p:spPr>
          <a:xfrm>
            <a:off x="1875594" y="-11318525"/>
            <a:ext cx="14670600" cy="15077100"/>
          </a:xfrm>
          <a:prstGeom prst="ellipse">
            <a:avLst/>
          </a:prstGeom>
          <a:solidFill>
            <a:srgbClr val="0DB14B"/>
          </a:solidFill>
          <a:ln w="127000" cap="flat" cmpd="sng">
            <a:solidFill>
              <a:srgbClr val="0DB14B"/>
            </a:solidFill>
            <a:prstDash val="solid"/>
            <a:miter lim="8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495" name="Shape 495"/>
          <p:cNvSpPr/>
          <p:nvPr/>
        </p:nvSpPr>
        <p:spPr>
          <a:xfrm>
            <a:off x="6818149" y="241299"/>
            <a:ext cx="5937000" cy="27177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FFFFFF"/>
              </a:buClr>
              <a:buFont typeface="Montserrat"/>
              <a:buNone/>
            </a:pPr>
            <a:r>
              <a:rPr lang="en-US" sz="8000" b="1">
                <a:solidFill>
                  <a:srgbClr val="FFFFFF"/>
                </a:solidFill>
                <a:latin typeface="Montserrat"/>
                <a:ea typeface="Montserrat"/>
                <a:cs typeface="Montserrat"/>
                <a:sym typeface="Montserrat"/>
              </a:rPr>
              <a:t>Weekend Roadmap</a:t>
            </a:r>
            <a:endParaRPr/>
          </a:p>
        </p:txBody>
      </p:sp>
      <p:cxnSp>
        <p:nvCxnSpPr>
          <p:cNvPr id="496" name="Shape 496"/>
          <p:cNvCxnSpPr>
            <a:stCxn id="487" idx="2"/>
            <a:endCxn id="492" idx="0"/>
          </p:cNvCxnSpPr>
          <p:nvPr/>
        </p:nvCxnSpPr>
        <p:spPr>
          <a:xfrm rot="-5400000" flipH="1">
            <a:off x="1991479" y="4082563"/>
            <a:ext cx="586200" cy="600"/>
          </a:xfrm>
          <a:prstGeom prst="bentConnector3">
            <a:avLst>
              <a:gd name="adj1" fmla="val 49988"/>
            </a:avLst>
          </a:prstGeom>
          <a:noFill/>
          <a:ln w="38100" cap="flat" cmpd="sng">
            <a:solidFill>
              <a:srgbClr val="FFFFFF"/>
            </a:solidFill>
            <a:prstDash val="dot"/>
            <a:round/>
            <a:headEnd type="none" w="med" len="med"/>
            <a:tailEnd type="none" w="med" len="med"/>
          </a:ln>
        </p:spPr>
      </p:cxnSp>
      <p:cxnSp>
        <p:nvCxnSpPr>
          <p:cNvPr id="497" name="Shape 497"/>
          <p:cNvCxnSpPr>
            <a:stCxn id="492" idx="2"/>
            <a:endCxn id="488" idx="0"/>
          </p:cNvCxnSpPr>
          <p:nvPr/>
        </p:nvCxnSpPr>
        <p:spPr>
          <a:xfrm rot="-5400000" flipH="1">
            <a:off x="2024629" y="5648578"/>
            <a:ext cx="519900" cy="600"/>
          </a:xfrm>
          <a:prstGeom prst="bentConnector3">
            <a:avLst>
              <a:gd name="adj1" fmla="val 49990"/>
            </a:avLst>
          </a:prstGeom>
          <a:noFill/>
          <a:ln w="38100" cap="flat" cmpd="sng">
            <a:solidFill>
              <a:srgbClr val="FFFFFF"/>
            </a:solidFill>
            <a:prstDash val="dot"/>
            <a:round/>
            <a:headEnd type="none" w="med" len="med"/>
            <a:tailEnd type="none" w="med" len="med"/>
          </a:ln>
        </p:spPr>
      </p:cxnSp>
      <p:cxnSp>
        <p:nvCxnSpPr>
          <p:cNvPr id="498" name="Shape 498"/>
          <p:cNvCxnSpPr>
            <a:stCxn id="488" idx="2"/>
            <a:endCxn id="490" idx="0"/>
          </p:cNvCxnSpPr>
          <p:nvPr/>
        </p:nvCxnSpPr>
        <p:spPr>
          <a:xfrm rot="-5400000" flipH="1">
            <a:off x="2024629" y="7181476"/>
            <a:ext cx="519900" cy="600"/>
          </a:xfrm>
          <a:prstGeom prst="bentConnector3">
            <a:avLst>
              <a:gd name="adj1" fmla="val 49990"/>
            </a:avLst>
          </a:prstGeom>
          <a:noFill/>
          <a:ln w="38100" cap="flat" cmpd="sng">
            <a:solidFill>
              <a:srgbClr val="FFFFFF"/>
            </a:solidFill>
            <a:prstDash val="dot"/>
            <a:round/>
            <a:headEnd type="none" w="med" len="med"/>
            <a:tailEnd type="none" w="med" len="med"/>
          </a:ln>
        </p:spPr>
      </p:cxnSp>
      <p:cxnSp>
        <p:nvCxnSpPr>
          <p:cNvPr id="499" name="Shape 499"/>
          <p:cNvCxnSpPr>
            <a:stCxn id="490" idx="2"/>
            <a:endCxn id="493" idx="1"/>
          </p:cNvCxnSpPr>
          <p:nvPr/>
        </p:nvCxnSpPr>
        <p:spPr>
          <a:xfrm rot="-5400000">
            <a:off x="2178979" y="4987625"/>
            <a:ext cx="3572400" cy="3361800"/>
          </a:xfrm>
          <a:prstGeom prst="bentConnector4">
            <a:avLst>
              <a:gd name="adj1" fmla="val -6666"/>
              <a:gd name="adj2" fmla="val 74639"/>
            </a:avLst>
          </a:prstGeom>
          <a:noFill/>
          <a:ln w="38100" cap="flat" cmpd="sng">
            <a:solidFill>
              <a:srgbClr val="FFFFFF"/>
            </a:solidFill>
            <a:prstDash val="dot"/>
            <a:round/>
            <a:headEnd type="none" w="med" len="med"/>
            <a:tailEnd type="none" w="med" len="med"/>
          </a:ln>
        </p:spPr>
      </p:cxnSp>
      <p:cxnSp>
        <p:nvCxnSpPr>
          <p:cNvPr id="500" name="Shape 500"/>
          <p:cNvCxnSpPr>
            <a:stCxn id="493" idx="2"/>
            <a:endCxn id="489" idx="0"/>
          </p:cNvCxnSpPr>
          <p:nvPr/>
        </p:nvCxnSpPr>
        <p:spPr>
          <a:xfrm rot="-5400000" flipH="1">
            <a:off x="7043042" y="5648578"/>
            <a:ext cx="519900" cy="600"/>
          </a:xfrm>
          <a:prstGeom prst="bentConnector3">
            <a:avLst>
              <a:gd name="adj1" fmla="val 49990"/>
            </a:avLst>
          </a:prstGeom>
          <a:noFill/>
          <a:ln w="38100" cap="flat" cmpd="sng">
            <a:solidFill>
              <a:srgbClr val="FFFFFF"/>
            </a:solidFill>
            <a:prstDash val="dot"/>
            <a:round/>
            <a:headEnd type="none" w="med" len="med"/>
            <a:tailEnd type="none" w="med" len="med"/>
          </a:ln>
        </p:spPr>
      </p:cxnSp>
      <p:cxnSp>
        <p:nvCxnSpPr>
          <p:cNvPr id="501" name="Shape 501"/>
          <p:cNvCxnSpPr>
            <a:stCxn id="489" idx="2"/>
            <a:endCxn id="491" idx="0"/>
          </p:cNvCxnSpPr>
          <p:nvPr/>
        </p:nvCxnSpPr>
        <p:spPr>
          <a:xfrm rot="-5400000" flipH="1">
            <a:off x="7043042" y="7181476"/>
            <a:ext cx="519900" cy="600"/>
          </a:xfrm>
          <a:prstGeom prst="bentConnector3">
            <a:avLst>
              <a:gd name="adj1" fmla="val 49990"/>
            </a:avLst>
          </a:prstGeom>
          <a:noFill/>
          <a:ln w="38100" cap="flat" cmpd="sng">
            <a:solidFill>
              <a:srgbClr val="FFFFFF"/>
            </a:solidFill>
            <a:prstDash val="dot"/>
            <a:round/>
            <a:headEnd type="none" w="med" len="med"/>
            <a:tailEnd type="none" w="med" len="med"/>
          </a:ln>
        </p:spPr>
      </p:cxnSp>
      <p:cxnSp>
        <p:nvCxnSpPr>
          <p:cNvPr id="502" name="Shape 502"/>
          <p:cNvCxnSpPr>
            <a:stCxn id="491" idx="2"/>
          </p:cNvCxnSpPr>
          <p:nvPr/>
        </p:nvCxnSpPr>
        <p:spPr>
          <a:xfrm rot="-5400000" flipH="1">
            <a:off x="6679142" y="9078275"/>
            <a:ext cx="1247700" cy="600"/>
          </a:xfrm>
          <a:prstGeom prst="bentConnector3">
            <a:avLst>
              <a:gd name="adj1" fmla="val 50000"/>
            </a:avLst>
          </a:prstGeom>
          <a:noFill/>
          <a:ln w="38100" cap="flat" cmpd="sng">
            <a:solidFill>
              <a:srgbClr val="FFFFFF"/>
            </a:solidFill>
            <a:prstDash val="dot"/>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3942"/>
        </a:solidFill>
        <a:effectLst/>
      </p:bgPr>
    </p:bg>
    <p:spTree>
      <p:nvGrpSpPr>
        <p:cNvPr id="1" name="Shape 506"/>
        <p:cNvGrpSpPr/>
        <p:nvPr/>
      </p:nvGrpSpPr>
      <p:grpSpPr>
        <a:xfrm>
          <a:off x="0" y="0"/>
          <a:ext cx="0" cy="0"/>
          <a:chOff x="0" y="0"/>
          <a:chExt cx="0" cy="0"/>
        </a:xfrm>
      </p:grpSpPr>
      <p:pic>
        <p:nvPicPr>
          <p:cNvPr id="507" name="Shape 507" descr="pasted-image.pdf"/>
          <p:cNvPicPr preferRelativeResize="0"/>
          <p:nvPr/>
        </p:nvPicPr>
        <p:blipFill rotWithShape="1">
          <a:blip r:embed="rId3">
            <a:alphaModFix/>
          </a:blip>
          <a:srcRect/>
          <a:stretch/>
        </p:blipFill>
        <p:spPr>
          <a:xfrm>
            <a:off x="11736606" y="8808486"/>
            <a:ext cx="930300" cy="595500"/>
          </a:xfrm>
          <a:prstGeom prst="rect">
            <a:avLst/>
          </a:prstGeom>
          <a:noFill/>
          <a:ln>
            <a:noFill/>
          </a:ln>
        </p:spPr>
      </p:pic>
      <p:sp>
        <p:nvSpPr>
          <p:cNvPr id="508" name="Shape 508"/>
          <p:cNvSpPr/>
          <p:nvPr/>
        </p:nvSpPr>
        <p:spPr>
          <a:xfrm>
            <a:off x="627679" y="2776663"/>
            <a:ext cx="3313200" cy="1013100"/>
          </a:xfrm>
          <a:prstGeom prst="roundRect">
            <a:avLst>
              <a:gd name="adj" fmla="val 16667"/>
            </a:avLst>
          </a:prstGeom>
          <a:solidFill>
            <a:srgbClr val="9E9E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a:solidFill>
                  <a:srgbClr val="F3F3F3"/>
                </a:solidFill>
                <a:latin typeface="Montserrat"/>
                <a:ea typeface="Montserrat"/>
                <a:cs typeface="Montserrat"/>
                <a:sym typeface="Montserrat"/>
              </a:rPr>
              <a:t>Tomorrow</a:t>
            </a:r>
            <a:endParaRPr sz="3600" b="1">
              <a:solidFill>
                <a:srgbClr val="F3F3F3"/>
              </a:solidFill>
              <a:latin typeface="Montserrat"/>
              <a:ea typeface="Montserrat"/>
              <a:cs typeface="Montserrat"/>
              <a:sym typeface="Montserrat"/>
            </a:endParaRPr>
          </a:p>
        </p:txBody>
      </p:sp>
      <p:sp>
        <p:nvSpPr>
          <p:cNvPr id="509" name="Shape 509"/>
          <p:cNvSpPr/>
          <p:nvPr/>
        </p:nvSpPr>
        <p:spPr>
          <a:xfrm>
            <a:off x="627679" y="5908726"/>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3000">
                <a:solidFill>
                  <a:srgbClr val="F3F3F3"/>
                </a:solidFill>
                <a:latin typeface="Montserrat"/>
                <a:ea typeface="Montserrat"/>
                <a:cs typeface="Montserrat"/>
                <a:sym typeface="Montserrat"/>
              </a:rPr>
              <a:t>Define MVP</a:t>
            </a:r>
            <a:endParaRPr sz="3000">
              <a:solidFill>
                <a:srgbClr val="F3F3F3"/>
              </a:solidFill>
              <a:latin typeface="Montserrat"/>
              <a:ea typeface="Montserrat"/>
              <a:cs typeface="Montserrat"/>
              <a:sym typeface="Montserrat"/>
            </a:endParaRPr>
          </a:p>
        </p:txBody>
      </p:sp>
      <p:sp>
        <p:nvSpPr>
          <p:cNvPr id="510" name="Shape 510"/>
          <p:cNvSpPr/>
          <p:nvPr/>
        </p:nvSpPr>
        <p:spPr>
          <a:xfrm>
            <a:off x="5646092" y="5908726"/>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Iterate</a:t>
            </a:r>
            <a:endParaRPr sz="3000">
              <a:solidFill>
                <a:srgbClr val="F3F3F3"/>
              </a:solidFill>
              <a:latin typeface="Montserrat"/>
              <a:ea typeface="Montserrat"/>
              <a:cs typeface="Montserrat"/>
              <a:sym typeface="Montserrat"/>
            </a:endParaRPr>
          </a:p>
        </p:txBody>
      </p:sp>
      <p:sp>
        <p:nvSpPr>
          <p:cNvPr id="511" name="Shape 511"/>
          <p:cNvSpPr/>
          <p:nvPr/>
        </p:nvSpPr>
        <p:spPr>
          <a:xfrm>
            <a:off x="627679" y="7441625"/>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Start Building</a:t>
            </a:r>
            <a:endParaRPr sz="3000">
              <a:solidFill>
                <a:srgbClr val="F3F3F3"/>
              </a:solidFill>
              <a:latin typeface="Montserrat"/>
              <a:ea typeface="Montserrat"/>
              <a:cs typeface="Montserrat"/>
              <a:sym typeface="Montserrat"/>
            </a:endParaRPr>
          </a:p>
        </p:txBody>
      </p:sp>
      <p:sp>
        <p:nvSpPr>
          <p:cNvPr id="512" name="Shape 512"/>
          <p:cNvSpPr/>
          <p:nvPr/>
        </p:nvSpPr>
        <p:spPr>
          <a:xfrm>
            <a:off x="5646092" y="7441625"/>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Keep Building</a:t>
            </a:r>
            <a:endParaRPr sz="3000">
              <a:solidFill>
                <a:srgbClr val="F3F3F3"/>
              </a:solidFill>
              <a:latin typeface="Montserrat"/>
              <a:ea typeface="Montserrat"/>
              <a:cs typeface="Montserrat"/>
              <a:sym typeface="Montserrat"/>
            </a:endParaRPr>
          </a:p>
        </p:txBody>
      </p:sp>
      <p:sp>
        <p:nvSpPr>
          <p:cNvPr id="513" name="Shape 513"/>
          <p:cNvSpPr/>
          <p:nvPr/>
        </p:nvSpPr>
        <p:spPr>
          <a:xfrm>
            <a:off x="627679" y="4375828"/>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Market Research</a:t>
            </a:r>
            <a:endParaRPr sz="3000">
              <a:solidFill>
                <a:srgbClr val="F3F3F3"/>
              </a:solidFill>
              <a:latin typeface="Montserrat"/>
              <a:ea typeface="Montserrat"/>
              <a:cs typeface="Montserrat"/>
              <a:sym typeface="Montserrat"/>
            </a:endParaRPr>
          </a:p>
        </p:txBody>
      </p:sp>
      <p:sp>
        <p:nvSpPr>
          <p:cNvPr id="514" name="Shape 514"/>
          <p:cNvSpPr/>
          <p:nvPr/>
        </p:nvSpPr>
        <p:spPr>
          <a:xfrm>
            <a:off x="5646092" y="4375828"/>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Customer Validation</a:t>
            </a:r>
            <a:endParaRPr sz="3000">
              <a:solidFill>
                <a:srgbClr val="F3F3F3"/>
              </a:solidFill>
              <a:latin typeface="Montserrat"/>
              <a:ea typeface="Montserrat"/>
              <a:cs typeface="Montserrat"/>
              <a:sym typeface="Montserrat"/>
            </a:endParaRPr>
          </a:p>
        </p:txBody>
      </p:sp>
      <p:sp>
        <p:nvSpPr>
          <p:cNvPr id="515" name="Shape 515"/>
          <p:cNvSpPr/>
          <p:nvPr/>
        </p:nvSpPr>
        <p:spPr>
          <a:xfrm>
            <a:off x="1875594" y="-11318525"/>
            <a:ext cx="14670600" cy="15077100"/>
          </a:xfrm>
          <a:prstGeom prst="ellipse">
            <a:avLst/>
          </a:prstGeom>
          <a:solidFill>
            <a:srgbClr val="0DB14B"/>
          </a:solidFill>
          <a:ln w="127000" cap="flat" cmpd="sng">
            <a:solidFill>
              <a:srgbClr val="0DB14B"/>
            </a:solidFill>
            <a:prstDash val="solid"/>
            <a:miter lim="8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516" name="Shape 516"/>
          <p:cNvSpPr/>
          <p:nvPr/>
        </p:nvSpPr>
        <p:spPr>
          <a:xfrm>
            <a:off x="6818149" y="241299"/>
            <a:ext cx="5937000" cy="27177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FFFFFF"/>
              </a:buClr>
              <a:buFont typeface="Montserrat"/>
              <a:buNone/>
            </a:pPr>
            <a:r>
              <a:rPr lang="en-US" sz="8000" b="1">
                <a:solidFill>
                  <a:srgbClr val="FFFFFF"/>
                </a:solidFill>
                <a:latin typeface="Montserrat"/>
                <a:ea typeface="Montserrat"/>
                <a:cs typeface="Montserrat"/>
                <a:sym typeface="Montserrat"/>
              </a:rPr>
              <a:t>Weekend Roadmap</a:t>
            </a:r>
            <a:endParaRPr/>
          </a:p>
        </p:txBody>
      </p:sp>
      <p:cxnSp>
        <p:nvCxnSpPr>
          <p:cNvPr id="517" name="Shape 517"/>
          <p:cNvCxnSpPr>
            <a:stCxn id="508" idx="2"/>
            <a:endCxn id="513" idx="0"/>
          </p:cNvCxnSpPr>
          <p:nvPr/>
        </p:nvCxnSpPr>
        <p:spPr>
          <a:xfrm rot="-5400000" flipH="1">
            <a:off x="1991479" y="4082563"/>
            <a:ext cx="586200" cy="600"/>
          </a:xfrm>
          <a:prstGeom prst="bentConnector3">
            <a:avLst>
              <a:gd name="adj1" fmla="val 49988"/>
            </a:avLst>
          </a:prstGeom>
          <a:noFill/>
          <a:ln w="38100" cap="flat" cmpd="sng">
            <a:solidFill>
              <a:srgbClr val="FFFFFF"/>
            </a:solidFill>
            <a:prstDash val="dot"/>
            <a:round/>
            <a:headEnd type="none" w="med" len="med"/>
            <a:tailEnd type="none" w="med" len="med"/>
          </a:ln>
        </p:spPr>
      </p:cxnSp>
      <p:cxnSp>
        <p:nvCxnSpPr>
          <p:cNvPr id="518" name="Shape 518"/>
          <p:cNvCxnSpPr>
            <a:stCxn id="513" idx="2"/>
            <a:endCxn id="509" idx="0"/>
          </p:cNvCxnSpPr>
          <p:nvPr/>
        </p:nvCxnSpPr>
        <p:spPr>
          <a:xfrm rot="-5400000" flipH="1">
            <a:off x="2024629" y="5648578"/>
            <a:ext cx="519900" cy="600"/>
          </a:xfrm>
          <a:prstGeom prst="bentConnector3">
            <a:avLst>
              <a:gd name="adj1" fmla="val 49990"/>
            </a:avLst>
          </a:prstGeom>
          <a:noFill/>
          <a:ln w="38100" cap="flat" cmpd="sng">
            <a:solidFill>
              <a:srgbClr val="FFFFFF"/>
            </a:solidFill>
            <a:prstDash val="dot"/>
            <a:round/>
            <a:headEnd type="none" w="med" len="med"/>
            <a:tailEnd type="none" w="med" len="med"/>
          </a:ln>
        </p:spPr>
      </p:cxnSp>
      <p:cxnSp>
        <p:nvCxnSpPr>
          <p:cNvPr id="519" name="Shape 519"/>
          <p:cNvCxnSpPr>
            <a:stCxn id="509" idx="2"/>
            <a:endCxn id="511" idx="0"/>
          </p:cNvCxnSpPr>
          <p:nvPr/>
        </p:nvCxnSpPr>
        <p:spPr>
          <a:xfrm rot="-5400000" flipH="1">
            <a:off x="2024629" y="7181476"/>
            <a:ext cx="519900" cy="600"/>
          </a:xfrm>
          <a:prstGeom prst="bentConnector3">
            <a:avLst>
              <a:gd name="adj1" fmla="val 49990"/>
            </a:avLst>
          </a:prstGeom>
          <a:noFill/>
          <a:ln w="38100" cap="flat" cmpd="sng">
            <a:solidFill>
              <a:srgbClr val="FFFFFF"/>
            </a:solidFill>
            <a:prstDash val="dot"/>
            <a:round/>
            <a:headEnd type="none" w="med" len="med"/>
            <a:tailEnd type="none" w="med" len="med"/>
          </a:ln>
        </p:spPr>
      </p:cxnSp>
      <p:cxnSp>
        <p:nvCxnSpPr>
          <p:cNvPr id="520" name="Shape 520"/>
          <p:cNvCxnSpPr>
            <a:stCxn id="511" idx="2"/>
            <a:endCxn id="514" idx="1"/>
          </p:cNvCxnSpPr>
          <p:nvPr/>
        </p:nvCxnSpPr>
        <p:spPr>
          <a:xfrm rot="-5400000">
            <a:off x="2178979" y="4987625"/>
            <a:ext cx="3572400" cy="3361800"/>
          </a:xfrm>
          <a:prstGeom prst="bentConnector4">
            <a:avLst>
              <a:gd name="adj1" fmla="val -6666"/>
              <a:gd name="adj2" fmla="val 74639"/>
            </a:avLst>
          </a:prstGeom>
          <a:noFill/>
          <a:ln w="38100" cap="flat" cmpd="sng">
            <a:solidFill>
              <a:srgbClr val="FFFFFF"/>
            </a:solidFill>
            <a:prstDash val="dot"/>
            <a:round/>
            <a:headEnd type="none" w="med" len="med"/>
            <a:tailEnd type="none" w="med" len="med"/>
          </a:ln>
        </p:spPr>
      </p:cxnSp>
      <p:cxnSp>
        <p:nvCxnSpPr>
          <p:cNvPr id="521" name="Shape 521"/>
          <p:cNvCxnSpPr>
            <a:stCxn id="514" idx="2"/>
            <a:endCxn id="510" idx="0"/>
          </p:cNvCxnSpPr>
          <p:nvPr/>
        </p:nvCxnSpPr>
        <p:spPr>
          <a:xfrm rot="-5400000" flipH="1">
            <a:off x="7043042" y="5648578"/>
            <a:ext cx="519900" cy="600"/>
          </a:xfrm>
          <a:prstGeom prst="bentConnector3">
            <a:avLst>
              <a:gd name="adj1" fmla="val 49990"/>
            </a:avLst>
          </a:prstGeom>
          <a:noFill/>
          <a:ln w="38100" cap="flat" cmpd="sng">
            <a:solidFill>
              <a:srgbClr val="FFFFFF"/>
            </a:solidFill>
            <a:prstDash val="dot"/>
            <a:round/>
            <a:headEnd type="none" w="med" len="med"/>
            <a:tailEnd type="none" w="med" len="med"/>
          </a:ln>
        </p:spPr>
      </p:cxnSp>
      <p:cxnSp>
        <p:nvCxnSpPr>
          <p:cNvPr id="522" name="Shape 522"/>
          <p:cNvCxnSpPr>
            <a:stCxn id="510" idx="2"/>
            <a:endCxn id="512" idx="0"/>
          </p:cNvCxnSpPr>
          <p:nvPr/>
        </p:nvCxnSpPr>
        <p:spPr>
          <a:xfrm rot="-5400000" flipH="1">
            <a:off x="7043042" y="7181476"/>
            <a:ext cx="519900" cy="600"/>
          </a:xfrm>
          <a:prstGeom prst="bentConnector3">
            <a:avLst>
              <a:gd name="adj1" fmla="val 49990"/>
            </a:avLst>
          </a:prstGeom>
          <a:noFill/>
          <a:ln w="38100" cap="flat" cmpd="sng">
            <a:solidFill>
              <a:srgbClr val="FFFFFF"/>
            </a:solidFill>
            <a:prstDash val="dot"/>
            <a:round/>
            <a:headEnd type="none" w="med" len="med"/>
            <a:tailEnd type="none" w="med" len="med"/>
          </a:ln>
        </p:spPr>
      </p:cxnSp>
      <p:cxnSp>
        <p:nvCxnSpPr>
          <p:cNvPr id="523" name="Shape 523"/>
          <p:cNvCxnSpPr>
            <a:stCxn id="512" idx="2"/>
          </p:cNvCxnSpPr>
          <p:nvPr/>
        </p:nvCxnSpPr>
        <p:spPr>
          <a:xfrm rot="-5400000" flipH="1">
            <a:off x="6679142" y="9078275"/>
            <a:ext cx="1247700" cy="600"/>
          </a:xfrm>
          <a:prstGeom prst="bentConnector3">
            <a:avLst>
              <a:gd name="adj1" fmla="val 50000"/>
            </a:avLst>
          </a:prstGeom>
          <a:noFill/>
          <a:ln w="38100" cap="flat" cmpd="sng">
            <a:solidFill>
              <a:srgbClr val="FFFFFF"/>
            </a:solidFill>
            <a:prstDash val="dot"/>
            <a:round/>
            <a:headEnd type="none" w="med" len="med"/>
            <a:tailEnd type="none" w="med" len="med"/>
          </a:ln>
        </p:spPr>
      </p:cxnSp>
      <p:cxnSp>
        <p:nvCxnSpPr>
          <p:cNvPr id="524" name="Shape 524"/>
          <p:cNvCxnSpPr>
            <a:endCxn id="508" idx="0"/>
          </p:cNvCxnSpPr>
          <p:nvPr/>
        </p:nvCxnSpPr>
        <p:spPr>
          <a:xfrm rot="-5400000" flipH="1">
            <a:off x="864979" y="1357363"/>
            <a:ext cx="2838000" cy="600"/>
          </a:xfrm>
          <a:prstGeom prst="bentConnector3">
            <a:avLst>
              <a:gd name="adj1" fmla="val 50000"/>
            </a:avLst>
          </a:prstGeom>
          <a:noFill/>
          <a:ln w="38100" cap="flat" cmpd="sng">
            <a:solidFill>
              <a:srgbClr val="FFFFFF"/>
            </a:solidFill>
            <a:prstDash val="dot"/>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3942"/>
        </a:solidFill>
        <a:effectLst/>
      </p:bgPr>
    </p:bg>
    <p:spTree>
      <p:nvGrpSpPr>
        <p:cNvPr id="1" name="Shape 528"/>
        <p:cNvGrpSpPr/>
        <p:nvPr/>
      </p:nvGrpSpPr>
      <p:grpSpPr>
        <a:xfrm>
          <a:off x="0" y="0"/>
          <a:ext cx="0" cy="0"/>
          <a:chOff x="0" y="0"/>
          <a:chExt cx="0" cy="0"/>
        </a:xfrm>
      </p:grpSpPr>
      <p:pic>
        <p:nvPicPr>
          <p:cNvPr id="529" name="Shape 529" descr="pasted-image.pdf"/>
          <p:cNvPicPr preferRelativeResize="0"/>
          <p:nvPr/>
        </p:nvPicPr>
        <p:blipFill rotWithShape="1">
          <a:blip r:embed="rId3">
            <a:alphaModFix/>
          </a:blip>
          <a:srcRect/>
          <a:stretch/>
        </p:blipFill>
        <p:spPr>
          <a:xfrm>
            <a:off x="11736606" y="8808486"/>
            <a:ext cx="930300" cy="595500"/>
          </a:xfrm>
          <a:prstGeom prst="rect">
            <a:avLst/>
          </a:prstGeom>
          <a:noFill/>
          <a:ln>
            <a:noFill/>
          </a:ln>
        </p:spPr>
      </p:pic>
      <p:sp>
        <p:nvSpPr>
          <p:cNvPr id="530" name="Shape 530"/>
          <p:cNvSpPr/>
          <p:nvPr/>
        </p:nvSpPr>
        <p:spPr>
          <a:xfrm>
            <a:off x="627679" y="1557463"/>
            <a:ext cx="3313200" cy="1013100"/>
          </a:xfrm>
          <a:prstGeom prst="roundRect">
            <a:avLst>
              <a:gd name="adj" fmla="val 16667"/>
            </a:avLst>
          </a:prstGeom>
          <a:solidFill>
            <a:srgbClr val="9E9E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dirty="0" smtClean="0">
                <a:solidFill>
                  <a:srgbClr val="F3F3F3"/>
                </a:solidFill>
                <a:latin typeface="Montserrat"/>
                <a:ea typeface="Montserrat"/>
                <a:cs typeface="Montserrat"/>
                <a:sym typeface="Montserrat"/>
              </a:rPr>
              <a:t>Sunday</a:t>
            </a:r>
            <a:endParaRPr sz="3600" b="1" dirty="0">
              <a:solidFill>
                <a:srgbClr val="F3F3F3"/>
              </a:solidFill>
              <a:latin typeface="Montserrat"/>
              <a:ea typeface="Montserrat"/>
              <a:cs typeface="Montserrat"/>
              <a:sym typeface="Montserrat"/>
            </a:endParaRPr>
          </a:p>
        </p:txBody>
      </p:sp>
      <p:sp>
        <p:nvSpPr>
          <p:cNvPr id="531" name="Shape 531"/>
          <p:cNvSpPr/>
          <p:nvPr/>
        </p:nvSpPr>
        <p:spPr>
          <a:xfrm>
            <a:off x="627679" y="4755776"/>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Got Customers?</a:t>
            </a:r>
            <a:endParaRPr sz="3000">
              <a:solidFill>
                <a:srgbClr val="F3F3F3"/>
              </a:solidFill>
              <a:latin typeface="Montserrat"/>
              <a:ea typeface="Montserrat"/>
              <a:cs typeface="Montserrat"/>
              <a:sym typeface="Montserrat"/>
            </a:endParaRPr>
          </a:p>
        </p:txBody>
      </p:sp>
      <p:sp>
        <p:nvSpPr>
          <p:cNvPr id="532" name="Shape 532"/>
          <p:cNvSpPr/>
          <p:nvPr/>
        </p:nvSpPr>
        <p:spPr>
          <a:xfrm>
            <a:off x="5646092" y="5460177"/>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Pitch Practice</a:t>
            </a:r>
            <a:endParaRPr sz="3000">
              <a:solidFill>
                <a:srgbClr val="F3F3F3"/>
              </a:solidFill>
              <a:latin typeface="Montserrat"/>
              <a:ea typeface="Montserrat"/>
              <a:cs typeface="Montserrat"/>
              <a:sym typeface="Montserrat"/>
            </a:endParaRPr>
          </a:p>
        </p:txBody>
      </p:sp>
      <p:sp>
        <p:nvSpPr>
          <p:cNvPr id="533" name="Shape 533"/>
          <p:cNvSpPr/>
          <p:nvPr/>
        </p:nvSpPr>
        <p:spPr>
          <a:xfrm>
            <a:off x="627379" y="6354925"/>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Rollout Strategy</a:t>
            </a:r>
            <a:endParaRPr sz="3000">
              <a:solidFill>
                <a:srgbClr val="F3F3F3"/>
              </a:solidFill>
              <a:latin typeface="Montserrat"/>
              <a:ea typeface="Montserrat"/>
              <a:cs typeface="Montserrat"/>
              <a:sym typeface="Montserrat"/>
            </a:endParaRPr>
          </a:p>
        </p:txBody>
      </p:sp>
      <p:sp>
        <p:nvSpPr>
          <p:cNvPr id="534" name="Shape 534"/>
          <p:cNvSpPr/>
          <p:nvPr/>
        </p:nvSpPr>
        <p:spPr>
          <a:xfrm>
            <a:off x="5646392" y="6925526"/>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Tech Check</a:t>
            </a:r>
            <a:endParaRPr sz="3000">
              <a:solidFill>
                <a:srgbClr val="F3F3F3"/>
              </a:solidFill>
              <a:latin typeface="Montserrat"/>
              <a:ea typeface="Montserrat"/>
              <a:cs typeface="Montserrat"/>
              <a:sym typeface="Montserrat"/>
            </a:endParaRPr>
          </a:p>
        </p:txBody>
      </p:sp>
      <p:sp>
        <p:nvSpPr>
          <p:cNvPr id="535" name="Shape 535"/>
          <p:cNvSpPr/>
          <p:nvPr/>
        </p:nvSpPr>
        <p:spPr>
          <a:xfrm>
            <a:off x="627379" y="3156628"/>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Team Registration</a:t>
            </a:r>
            <a:endParaRPr sz="3000">
              <a:solidFill>
                <a:srgbClr val="F3F3F3"/>
              </a:solidFill>
              <a:latin typeface="Montserrat"/>
              <a:ea typeface="Montserrat"/>
              <a:cs typeface="Montserrat"/>
              <a:sym typeface="Montserrat"/>
            </a:endParaRPr>
          </a:p>
        </p:txBody>
      </p:sp>
      <p:sp>
        <p:nvSpPr>
          <p:cNvPr id="536" name="Shape 536"/>
          <p:cNvSpPr/>
          <p:nvPr/>
        </p:nvSpPr>
        <p:spPr>
          <a:xfrm>
            <a:off x="5646092" y="3994828"/>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Build Presentation</a:t>
            </a:r>
            <a:endParaRPr sz="3000">
              <a:solidFill>
                <a:srgbClr val="F3F3F3"/>
              </a:solidFill>
              <a:latin typeface="Montserrat"/>
              <a:ea typeface="Montserrat"/>
              <a:cs typeface="Montserrat"/>
              <a:sym typeface="Montserrat"/>
            </a:endParaRPr>
          </a:p>
        </p:txBody>
      </p:sp>
      <p:sp>
        <p:nvSpPr>
          <p:cNvPr id="537" name="Shape 537"/>
          <p:cNvSpPr/>
          <p:nvPr/>
        </p:nvSpPr>
        <p:spPr>
          <a:xfrm>
            <a:off x="1875594" y="-11318525"/>
            <a:ext cx="14670600" cy="15077100"/>
          </a:xfrm>
          <a:prstGeom prst="ellipse">
            <a:avLst/>
          </a:prstGeom>
          <a:solidFill>
            <a:srgbClr val="0DB14B"/>
          </a:solidFill>
          <a:ln w="127000" cap="flat" cmpd="sng">
            <a:solidFill>
              <a:srgbClr val="0DB14B"/>
            </a:solidFill>
            <a:prstDash val="solid"/>
            <a:miter lim="8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538" name="Shape 538"/>
          <p:cNvSpPr/>
          <p:nvPr/>
        </p:nvSpPr>
        <p:spPr>
          <a:xfrm>
            <a:off x="6818149" y="241299"/>
            <a:ext cx="5937000" cy="27177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FFFFFF"/>
              </a:buClr>
              <a:buFont typeface="Montserrat"/>
              <a:buNone/>
            </a:pPr>
            <a:r>
              <a:rPr lang="en-US" sz="8000" b="1">
                <a:solidFill>
                  <a:srgbClr val="FFFFFF"/>
                </a:solidFill>
                <a:latin typeface="Montserrat"/>
                <a:ea typeface="Montserrat"/>
                <a:cs typeface="Montserrat"/>
                <a:sym typeface="Montserrat"/>
              </a:rPr>
              <a:t>Weekend Roadmap</a:t>
            </a:r>
            <a:endParaRPr/>
          </a:p>
        </p:txBody>
      </p:sp>
      <p:cxnSp>
        <p:nvCxnSpPr>
          <p:cNvPr id="539" name="Shape 539"/>
          <p:cNvCxnSpPr>
            <a:stCxn id="530" idx="2"/>
            <a:endCxn id="535" idx="0"/>
          </p:cNvCxnSpPr>
          <p:nvPr/>
        </p:nvCxnSpPr>
        <p:spPr>
          <a:xfrm rot="-5400000" flipH="1">
            <a:off x="1991479" y="2863363"/>
            <a:ext cx="586200" cy="600"/>
          </a:xfrm>
          <a:prstGeom prst="bentConnector3">
            <a:avLst>
              <a:gd name="adj1" fmla="val 49988"/>
            </a:avLst>
          </a:prstGeom>
          <a:noFill/>
          <a:ln w="38100" cap="flat" cmpd="sng">
            <a:solidFill>
              <a:srgbClr val="FFFFFF"/>
            </a:solidFill>
            <a:prstDash val="dot"/>
            <a:round/>
            <a:headEnd type="none" w="med" len="med"/>
            <a:tailEnd type="none" w="med" len="med"/>
          </a:ln>
        </p:spPr>
      </p:cxnSp>
      <p:cxnSp>
        <p:nvCxnSpPr>
          <p:cNvPr id="540" name="Shape 540"/>
          <p:cNvCxnSpPr>
            <a:stCxn id="535" idx="2"/>
            <a:endCxn id="531" idx="0"/>
          </p:cNvCxnSpPr>
          <p:nvPr/>
        </p:nvCxnSpPr>
        <p:spPr>
          <a:xfrm rot="-5400000" flipH="1">
            <a:off x="1991329" y="4462378"/>
            <a:ext cx="585900" cy="600"/>
          </a:xfrm>
          <a:prstGeom prst="bentConnector3">
            <a:avLst>
              <a:gd name="adj1" fmla="val 50013"/>
            </a:avLst>
          </a:prstGeom>
          <a:noFill/>
          <a:ln w="38100" cap="flat" cmpd="sng">
            <a:solidFill>
              <a:srgbClr val="FFFFFF"/>
            </a:solidFill>
            <a:prstDash val="dot"/>
            <a:round/>
            <a:headEnd type="none" w="med" len="med"/>
            <a:tailEnd type="none" w="med" len="med"/>
          </a:ln>
        </p:spPr>
      </p:cxnSp>
      <p:cxnSp>
        <p:nvCxnSpPr>
          <p:cNvPr id="541" name="Shape 541"/>
          <p:cNvCxnSpPr>
            <a:stCxn id="531" idx="2"/>
            <a:endCxn id="533" idx="0"/>
          </p:cNvCxnSpPr>
          <p:nvPr/>
        </p:nvCxnSpPr>
        <p:spPr>
          <a:xfrm rot="-5400000" flipH="1">
            <a:off x="1991629" y="6061526"/>
            <a:ext cx="585900" cy="600"/>
          </a:xfrm>
          <a:prstGeom prst="bentConnector3">
            <a:avLst>
              <a:gd name="adj1" fmla="val 50013"/>
            </a:avLst>
          </a:prstGeom>
          <a:noFill/>
          <a:ln w="38100" cap="flat" cmpd="sng">
            <a:solidFill>
              <a:srgbClr val="FFFFFF"/>
            </a:solidFill>
            <a:prstDash val="dot"/>
            <a:round/>
            <a:headEnd type="none" w="med" len="med"/>
            <a:tailEnd type="none" w="med" len="med"/>
          </a:ln>
        </p:spPr>
      </p:cxnSp>
      <p:cxnSp>
        <p:nvCxnSpPr>
          <p:cNvPr id="542" name="Shape 542"/>
          <p:cNvCxnSpPr>
            <a:stCxn id="533" idx="2"/>
            <a:endCxn id="543" idx="0"/>
          </p:cNvCxnSpPr>
          <p:nvPr/>
        </p:nvCxnSpPr>
        <p:spPr>
          <a:xfrm rot="-5400000" flipH="1">
            <a:off x="1993429" y="7658575"/>
            <a:ext cx="586200" cy="5100"/>
          </a:xfrm>
          <a:prstGeom prst="bentConnector3">
            <a:avLst>
              <a:gd name="adj1" fmla="val 49987"/>
            </a:avLst>
          </a:prstGeom>
          <a:noFill/>
          <a:ln w="38100" cap="flat" cmpd="sng">
            <a:solidFill>
              <a:srgbClr val="FFFFFF"/>
            </a:solidFill>
            <a:prstDash val="dot"/>
            <a:round/>
            <a:headEnd type="none" w="med" len="med"/>
            <a:tailEnd type="none" w="med" len="med"/>
          </a:ln>
        </p:spPr>
      </p:cxnSp>
      <p:cxnSp>
        <p:nvCxnSpPr>
          <p:cNvPr id="544" name="Shape 544"/>
          <p:cNvCxnSpPr>
            <a:stCxn id="536" idx="2"/>
            <a:endCxn id="532" idx="0"/>
          </p:cNvCxnSpPr>
          <p:nvPr/>
        </p:nvCxnSpPr>
        <p:spPr>
          <a:xfrm rot="-5400000" flipH="1">
            <a:off x="7076942" y="5233678"/>
            <a:ext cx="452100" cy="600"/>
          </a:xfrm>
          <a:prstGeom prst="bentConnector3">
            <a:avLst>
              <a:gd name="adj1" fmla="val 50016"/>
            </a:avLst>
          </a:prstGeom>
          <a:noFill/>
          <a:ln w="38100" cap="flat" cmpd="sng">
            <a:solidFill>
              <a:srgbClr val="FFFFFF"/>
            </a:solidFill>
            <a:prstDash val="dot"/>
            <a:round/>
            <a:headEnd type="none" w="med" len="med"/>
            <a:tailEnd type="none" w="med" len="med"/>
          </a:ln>
        </p:spPr>
      </p:cxnSp>
      <p:cxnSp>
        <p:nvCxnSpPr>
          <p:cNvPr id="545" name="Shape 545"/>
          <p:cNvCxnSpPr>
            <a:stCxn id="532" idx="2"/>
            <a:endCxn id="534" idx="0"/>
          </p:cNvCxnSpPr>
          <p:nvPr/>
        </p:nvCxnSpPr>
        <p:spPr>
          <a:xfrm rot="-5400000" flipH="1">
            <a:off x="7076942" y="6699027"/>
            <a:ext cx="452100" cy="600"/>
          </a:xfrm>
          <a:prstGeom prst="bentConnector3">
            <a:avLst>
              <a:gd name="adj1" fmla="val 50016"/>
            </a:avLst>
          </a:prstGeom>
          <a:noFill/>
          <a:ln w="38100" cap="flat" cmpd="sng">
            <a:solidFill>
              <a:srgbClr val="FFFFFF"/>
            </a:solidFill>
            <a:prstDash val="dot"/>
            <a:round/>
            <a:headEnd type="none" w="med" len="med"/>
            <a:tailEnd type="none" w="med" len="med"/>
          </a:ln>
        </p:spPr>
      </p:cxnSp>
      <p:cxnSp>
        <p:nvCxnSpPr>
          <p:cNvPr id="546" name="Shape 546"/>
          <p:cNvCxnSpPr>
            <a:stCxn id="534" idx="2"/>
            <a:endCxn id="547" idx="0"/>
          </p:cNvCxnSpPr>
          <p:nvPr/>
        </p:nvCxnSpPr>
        <p:spPr>
          <a:xfrm rot="-5400000" flipH="1">
            <a:off x="7077242" y="8164376"/>
            <a:ext cx="452100" cy="600"/>
          </a:xfrm>
          <a:prstGeom prst="bentConnector3">
            <a:avLst>
              <a:gd name="adj1" fmla="val 50016"/>
            </a:avLst>
          </a:prstGeom>
          <a:noFill/>
          <a:ln w="38100" cap="flat" cmpd="sng">
            <a:solidFill>
              <a:srgbClr val="FFFFFF"/>
            </a:solidFill>
            <a:prstDash val="dot"/>
            <a:round/>
            <a:headEnd type="none" w="med" len="med"/>
            <a:tailEnd type="none" w="med" len="med"/>
          </a:ln>
        </p:spPr>
      </p:cxnSp>
      <p:cxnSp>
        <p:nvCxnSpPr>
          <p:cNvPr id="548" name="Shape 548"/>
          <p:cNvCxnSpPr>
            <a:endCxn id="530" idx="0"/>
          </p:cNvCxnSpPr>
          <p:nvPr/>
        </p:nvCxnSpPr>
        <p:spPr>
          <a:xfrm rot="-5400000" flipH="1">
            <a:off x="864979" y="138163"/>
            <a:ext cx="2838000" cy="600"/>
          </a:xfrm>
          <a:prstGeom prst="bentConnector3">
            <a:avLst>
              <a:gd name="adj1" fmla="val 50000"/>
            </a:avLst>
          </a:prstGeom>
          <a:noFill/>
          <a:ln w="38100" cap="flat" cmpd="sng">
            <a:solidFill>
              <a:srgbClr val="FFFFFF"/>
            </a:solidFill>
            <a:prstDash val="dot"/>
            <a:round/>
            <a:headEnd type="none" w="med" len="med"/>
            <a:tailEnd type="none" w="med" len="med"/>
          </a:ln>
        </p:spPr>
      </p:cxnSp>
      <p:sp>
        <p:nvSpPr>
          <p:cNvPr id="543" name="Shape 543"/>
          <p:cNvSpPr/>
          <p:nvPr/>
        </p:nvSpPr>
        <p:spPr>
          <a:xfrm>
            <a:off x="632617" y="7954078"/>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Business Model</a:t>
            </a:r>
            <a:endParaRPr sz="3000">
              <a:solidFill>
                <a:srgbClr val="F3F3F3"/>
              </a:solidFill>
              <a:latin typeface="Montserrat"/>
              <a:ea typeface="Montserrat"/>
              <a:cs typeface="Montserrat"/>
              <a:sym typeface="Montserrat"/>
            </a:endParaRPr>
          </a:p>
        </p:txBody>
      </p:sp>
      <p:sp>
        <p:nvSpPr>
          <p:cNvPr id="547" name="Shape 547"/>
          <p:cNvSpPr/>
          <p:nvPr/>
        </p:nvSpPr>
        <p:spPr>
          <a:xfrm>
            <a:off x="5646092" y="8390875"/>
            <a:ext cx="3313200" cy="1013100"/>
          </a:xfrm>
          <a:prstGeom prst="roundRect">
            <a:avLst>
              <a:gd name="adj" fmla="val 16667"/>
            </a:avLst>
          </a:prstGeom>
          <a:solidFill>
            <a:srgbClr val="0DB14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000">
                <a:solidFill>
                  <a:srgbClr val="F3F3F3"/>
                </a:solidFill>
                <a:latin typeface="Montserrat"/>
                <a:ea typeface="Montserrat"/>
                <a:cs typeface="Montserrat"/>
                <a:sym typeface="Montserrat"/>
              </a:rPr>
              <a:t>Final Presentations!</a:t>
            </a:r>
            <a:endParaRPr sz="3000">
              <a:solidFill>
                <a:srgbClr val="F3F3F3"/>
              </a:solidFill>
              <a:latin typeface="Montserrat"/>
              <a:ea typeface="Montserrat"/>
              <a:cs typeface="Montserrat"/>
              <a:sym typeface="Montserrat"/>
            </a:endParaRPr>
          </a:p>
        </p:txBody>
      </p:sp>
      <p:cxnSp>
        <p:nvCxnSpPr>
          <p:cNvPr id="549" name="Shape 549"/>
          <p:cNvCxnSpPr>
            <a:stCxn id="543" idx="2"/>
            <a:endCxn id="536" idx="1"/>
          </p:cNvCxnSpPr>
          <p:nvPr/>
        </p:nvCxnSpPr>
        <p:spPr>
          <a:xfrm rot="-5400000">
            <a:off x="1734817" y="5055777"/>
            <a:ext cx="4465800" cy="3357000"/>
          </a:xfrm>
          <a:prstGeom prst="bentConnector4">
            <a:avLst>
              <a:gd name="adj1" fmla="val -5332"/>
              <a:gd name="adj2" fmla="val 74672"/>
            </a:avLst>
          </a:prstGeom>
          <a:noFill/>
          <a:ln w="38100" cap="flat" cmpd="sng">
            <a:solidFill>
              <a:srgbClr val="FFFFFF"/>
            </a:solidFill>
            <a:prstDash val="dot"/>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Shape 554"/>
          <p:cNvSpPr/>
          <p:nvPr/>
        </p:nvSpPr>
        <p:spPr>
          <a:xfrm>
            <a:off x="5965278" y="-253663"/>
            <a:ext cx="12699300" cy="13050900"/>
          </a:xfrm>
          <a:prstGeom prst="ellipse">
            <a:avLst/>
          </a:prstGeom>
          <a:noFill/>
          <a:ln w="12700" cap="flat" cmpd="sng">
            <a:solidFill>
              <a:srgbClr val="0DB14B"/>
            </a:solidFill>
            <a:prstDash val="solid"/>
            <a:miter lim="8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555" name="Shape 555"/>
          <p:cNvSpPr/>
          <p:nvPr/>
        </p:nvSpPr>
        <p:spPr>
          <a:xfrm>
            <a:off x="-4766222" y="-5274019"/>
            <a:ext cx="12699300" cy="13050900"/>
          </a:xfrm>
          <a:prstGeom prst="ellipse">
            <a:avLst/>
          </a:prstGeom>
          <a:noFill/>
          <a:ln w="12700" cap="flat" cmpd="sng">
            <a:solidFill>
              <a:srgbClr val="0DB14B"/>
            </a:solidFill>
            <a:prstDash val="solid"/>
            <a:miter lim="8000"/>
            <a:headEnd type="none" w="sm" len="sm"/>
            <a:tailEnd type="none" w="sm" len="sm"/>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556" name="Shape 556"/>
          <p:cNvSpPr/>
          <p:nvPr/>
        </p:nvSpPr>
        <p:spPr>
          <a:xfrm>
            <a:off x="1400541" y="870463"/>
            <a:ext cx="3126000" cy="7620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2A3842"/>
              </a:buClr>
              <a:buFont typeface="Montserrat"/>
              <a:buNone/>
            </a:pPr>
            <a:r>
              <a:rPr lang="en-US" sz="4000" b="1">
                <a:solidFill>
                  <a:srgbClr val="2A3842"/>
                </a:solidFill>
                <a:latin typeface="Montserrat"/>
                <a:ea typeface="Montserrat"/>
                <a:cs typeface="Montserrat"/>
                <a:sym typeface="Montserrat"/>
              </a:rPr>
              <a:t>Saturday</a:t>
            </a:r>
            <a:endParaRPr/>
          </a:p>
        </p:txBody>
      </p:sp>
      <p:sp>
        <p:nvSpPr>
          <p:cNvPr id="557" name="Shape 557"/>
          <p:cNvSpPr/>
          <p:nvPr/>
        </p:nvSpPr>
        <p:spPr>
          <a:xfrm>
            <a:off x="7826740" y="4083563"/>
            <a:ext cx="3126000" cy="7620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2A3842"/>
              </a:buClr>
              <a:buFont typeface="Montserrat"/>
              <a:buNone/>
            </a:pPr>
            <a:r>
              <a:rPr lang="en-US" sz="4000" b="1">
                <a:solidFill>
                  <a:srgbClr val="2A3842"/>
                </a:solidFill>
                <a:latin typeface="Montserrat"/>
                <a:ea typeface="Montserrat"/>
                <a:cs typeface="Montserrat"/>
                <a:sym typeface="Montserrat"/>
              </a:rPr>
              <a:t>Sunday</a:t>
            </a:r>
            <a:endParaRPr/>
          </a:p>
        </p:txBody>
      </p:sp>
      <p:pic>
        <p:nvPicPr>
          <p:cNvPr id="558" name="Shape 558" descr="pasted-image.pdf"/>
          <p:cNvPicPr preferRelativeResize="0"/>
          <p:nvPr/>
        </p:nvPicPr>
        <p:blipFill rotWithShape="1">
          <a:blip r:embed="rId3">
            <a:alphaModFix/>
          </a:blip>
          <a:srcRect/>
          <a:stretch/>
        </p:blipFill>
        <p:spPr>
          <a:xfrm>
            <a:off x="11736606" y="8808486"/>
            <a:ext cx="930300" cy="595500"/>
          </a:xfrm>
          <a:prstGeom prst="rect">
            <a:avLst/>
          </a:prstGeom>
          <a:noFill/>
          <a:ln>
            <a:noFill/>
          </a:ln>
        </p:spPr>
      </p:pic>
      <p:graphicFrame>
        <p:nvGraphicFramePr>
          <p:cNvPr id="559" name="Shape 559"/>
          <p:cNvGraphicFramePr/>
          <p:nvPr/>
        </p:nvGraphicFramePr>
        <p:xfrm>
          <a:off x="452825" y="1886538"/>
          <a:ext cx="5335600" cy="4455770"/>
        </p:xfrm>
        <a:graphic>
          <a:graphicData uri="http://schemas.openxmlformats.org/drawingml/2006/table">
            <a:tbl>
              <a:tblPr>
                <a:noFill/>
                <a:tableStyleId>{43399413-4C59-475D-B99D-7C4F634014EC}</a:tableStyleId>
              </a:tblPr>
              <a:tblGrid>
                <a:gridCol w="1778650"/>
                <a:gridCol w="3556950"/>
              </a:tblGrid>
              <a:tr h="508000">
                <a:tc>
                  <a:txBody>
                    <a:bodyPr/>
                    <a:lstStyle/>
                    <a:p>
                      <a:pPr marL="0" lvl="0" indent="0" algn="r" rtl="0">
                        <a:lnSpc>
                          <a:spcPct val="100000"/>
                        </a:lnSpc>
                        <a:spcBef>
                          <a:spcPts val="0"/>
                        </a:spcBef>
                        <a:spcAft>
                          <a:spcPts val="0"/>
                        </a:spcAft>
                        <a:buNone/>
                      </a:pPr>
                      <a:r>
                        <a:rPr lang="en-US" sz="2300" b="1">
                          <a:solidFill>
                            <a:srgbClr val="0DB14B"/>
                          </a:solidFill>
                          <a:latin typeface="Montserrat"/>
                          <a:ea typeface="Montserrat"/>
                          <a:cs typeface="Montserrat"/>
                          <a:sym typeface="Montserrat"/>
                        </a:rPr>
                        <a:t>9 am</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a:solidFill>
                            <a:srgbClr val="2A3842"/>
                          </a:solidFill>
                          <a:latin typeface="Montserrat"/>
                          <a:ea typeface="Montserrat"/>
                          <a:cs typeface="Montserrat"/>
                          <a:sym typeface="Montserrat"/>
                        </a:rPr>
                        <a:t>Show up</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3675">
                <a:tc>
                  <a:txBody>
                    <a:bodyPr/>
                    <a:lstStyle/>
                    <a:p>
                      <a:pPr marL="0" lvl="0" indent="0" algn="r" rtl="0">
                        <a:lnSpc>
                          <a:spcPct val="100000"/>
                        </a:lnSpc>
                        <a:spcBef>
                          <a:spcPts val="0"/>
                        </a:spcBef>
                        <a:spcAft>
                          <a:spcPts val="0"/>
                        </a:spcAft>
                        <a:buNone/>
                      </a:pPr>
                      <a:r>
                        <a:rPr lang="en-US" sz="2300" b="1">
                          <a:solidFill>
                            <a:srgbClr val="0DB14B"/>
                          </a:solidFill>
                          <a:latin typeface="Montserrat"/>
                          <a:ea typeface="Montserrat"/>
                          <a:cs typeface="Montserrat"/>
                          <a:sym typeface="Montserrat"/>
                        </a:rPr>
                        <a:t>10 am</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a:solidFill>
                            <a:srgbClr val="2A3842"/>
                          </a:solidFill>
                          <a:latin typeface="Montserrat"/>
                          <a:ea typeface="Montserrat"/>
                          <a:cs typeface="Montserrat"/>
                          <a:sym typeface="Montserrat"/>
                        </a:rPr>
                        <a:t>Define problem</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54500">
                <a:tc>
                  <a:txBody>
                    <a:bodyPr/>
                    <a:lstStyle/>
                    <a:p>
                      <a:pPr marL="0" lvl="0" indent="0" algn="r" rtl="0">
                        <a:lnSpc>
                          <a:spcPct val="100000"/>
                        </a:lnSpc>
                        <a:spcBef>
                          <a:spcPts val="0"/>
                        </a:spcBef>
                        <a:spcAft>
                          <a:spcPts val="0"/>
                        </a:spcAft>
                        <a:buNone/>
                      </a:pPr>
                      <a:r>
                        <a:rPr lang="en-US" sz="2300" b="1">
                          <a:solidFill>
                            <a:srgbClr val="0DB14B"/>
                          </a:solidFill>
                          <a:latin typeface="Montserrat"/>
                          <a:ea typeface="Montserrat"/>
                          <a:cs typeface="Montserrat"/>
                          <a:sym typeface="Montserrat"/>
                        </a:rPr>
                        <a:t>11 am</a:t>
                      </a:r>
                      <a:endParaRPr sz="2300" b="1">
                        <a:solidFill>
                          <a:srgbClr val="0DB14B"/>
                        </a:solidFill>
                        <a:latin typeface="Montserrat"/>
                        <a:ea typeface="Montserrat"/>
                        <a:cs typeface="Montserrat"/>
                        <a:sym typeface="Montserrat"/>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spcBef>
                          <a:spcPts val="0"/>
                        </a:spcBef>
                        <a:spcAft>
                          <a:spcPts val="0"/>
                        </a:spcAft>
                        <a:buNone/>
                      </a:pPr>
                      <a:r>
                        <a:rPr lang="en-US" sz="2300">
                          <a:solidFill>
                            <a:srgbClr val="2A3842"/>
                          </a:solidFill>
                          <a:latin typeface="Montserrat"/>
                          <a:ea typeface="Montserrat"/>
                          <a:cs typeface="Montserrat"/>
                          <a:sym typeface="Montserrat"/>
                        </a:rPr>
                        <a:t>Get out and talk to customer</a:t>
                      </a:r>
                      <a:endParaRPr sz="2300">
                        <a:solidFill>
                          <a:srgbClr val="2A3842"/>
                        </a:solidFill>
                        <a:latin typeface="Montserrat"/>
                        <a:ea typeface="Montserrat"/>
                        <a:cs typeface="Montserrat"/>
                        <a:sym typeface="Montserrat"/>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54500">
                <a:tc>
                  <a:txBody>
                    <a:bodyPr/>
                    <a:lstStyle/>
                    <a:p>
                      <a:pPr marL="0" lvl="0" indent="0" algn="r" rtl="0">
                        <a:lnSpc>
                          <a:spcPct val="100000"/>
                        </a:lnSpc>
                        <a:spcBef>
                          <a:spcPts val="0"/>
                        </a:spcBef>
                        <a:spcAft>
                          <a:spcPts val="0"/>
                        </a:spcAft>
                        <a:buNone/>
                      </a:pPr>
                      <a:r>
                        <a:rPr lang="en-US" sz="2300" b="1">
                          <a:solidFill>
                            <a:srgbClr val="0DB14B"/>
                          </a:solidFill>
                          <a:latin typeface="Montserrat"/>
                          <a:ea typeface="Montserrat"/>
                          <a:cs typeface="Montserrat"/>
                          <a:sym typeface="Montserrat"/>
                        </a:rPr>
                        <a:t>12pm</a:t>
                      </a:r>
                      <a:endParaRPr sz="2300" b="1">
                        <a:solidFill>
                          <a:srgbClr val="0DB14B"/>
                        </a:solidFill>
                        <a:latin typeface="Montserrat"/>
                        <a:ea typeface="Montserrat"/>
                        <a:cs typeface="Montserrat"/>
                        <a:sym typeface="Montserrat"/>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spcBef>
                          <a:spcPts val="0"/>
                        </a:spcBef>
                        <a:spcAft>
                          <a:spcPts val="0"/>
                        </a:spcAft>
                        <a:buNone/>
                      </a:pPr>
                      <a:r>
                        <a:rPr lang="en-US" sz="2300">
                          <a:solidFill>
                            <a:srgbClr val="2A3842"/>
                          </a:solidFill>
                          <a:latin typeface="Montserrat"/>
                          <a:ea typeface="Montserrat"/>
                          <a:cs typeface="Montserrat"/>
                          <a:sym typeface="Montserrat"/>
                        </a:rPr>
                        <a:t>Lunch</a:t>
                      </a:r>
                      <a:endParaRPr sz="2300">
                        <a:solidFill>
                          <a:srgbClr val="2A3842"/>
                        </a:solidFill>
                        <a:latin typeface="Montserrat"/>
                        <a:ea typeface="Montserrat"/>
                        <a:cs typeface="Montserrat"/>
                        <a:sym typeface="Montserrat"/>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883900">
                <a:tc>
                  <a:txBody>
                    <a:bodyPr/>
                    <a:lstStyle/>
                    <a:p>
                      <a:pPr marL="0" lvl="0" indent="0" algn="r" rtl="0">
                        <a:lnSpc>
                          <a:spcPct val="100000"/>
                        </a:lnSpc>
                        <a:spcBef>
                          <a:spcPts val="0"/>
                        </a:spcBef>
                        <a:spcAft>
                          <a:spcPts val="0"/>
                        </a:spcAft>
                        <a:buNone/>
                      </a:pPr>
                      <a:r>
                        <a:rPr lang="en-US" sz="2300" b="1">
                          <a:solidFill>
                            <a:srgbClr val="0DB14B"/>
                          </a:solidFill>
                          <a:latin typeface="Montserrat"/>
                          <a:ea typeface="Montserrat"/>
                          <a:cs typeface="Montserrat"/>
                          <a:sym typeface="Montserrat"/>
                        </a:rPr>
                        <a:t>2 pm</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a:solidFill>
                            <a:srgbClr val="2A3842"/>
                          </a:solidFill>
                          <a:latin typeface="Montserrat"/>
                          <a:ea typeface="Montserrat"/>
                          <a:cs typeface="Montserrat"/>
                          <a:sym typeface="Montserrat"/>
                        </a:rPr>
                        <a:t>Mentor hours</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29275">
                <a:tc>
                  <a:txBody>
                    <a:bodyPr/>
                    <a:lstStyle/>
                    <a:p>
                      <a:pPr marL="0" lvl="0" indent="0" algn="r" rtl="0">
                        <a:lnSpc>
                          <a:spcPct val="100000"/>
                        </a:lnSpc>
                        <a:spcBef>
                          <a:spcPts val="0"/>
                        </a:spcBef>
                        <a:spcAft>
                          <a:spcPts val="0"/>
                        </a:spcAft>
                        <a:buNone/>
                      </a:pPr>
                      <a:r>
                        <a:rPr lang="en-US" sz="2300" b="1">
                          <a:solidFill>
                            <a:srgbClr val="0DB14B"/>
                          </a:solidFill>
                          <a:latin typeface="Montserrat"/>
                          <a:ea typeface="Montserrat"/>
                          <a:cs typeface="Montserrat"/>
                          <a:sym typeface="Montserrat"/>
                        </a:rPr>
                        <a:t>6 pm</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a:solidFill>
                            <a:srgbClr val="2A3842"/>
                          </a:solidFill>
                          <a:latin typeface="Montserrat"/>
                          <a:ea typeface="Montserrat"/>
                          <a:cs typeface="Montserrat"/>
                          <a:sym typeface="Montserrat"/>
                        </a:rPr>
                        <a:t>Dinner and check-in</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08000">
                <a:tc>
                  <a:txBody>
                    <a:bodyPr/>
                    <a:lstStyle/>
                    <a:p>
                      <a:pPr marL="0" lvl="0" indent="0" algn="r" rtl="0">
                        <a:lnSpc>
                          <a:spcPct val="100000"/>
                        </a:lnSpc>
                        <a:spcBef>
                          <a:spcPts val="0"/>
                        </a:spcBef>
                        <a:spcAft>
                          <a:spcPts val="0"/>
                        </a:spcAft>
                        <a:buNone/>
                      </a:pPr>
                      <a:r>
                        <a:rPr lang="en-US" sz="2300" b="1">
                          <a:solidFill>
                            <a:srgbClr val="0DB14B"/>
                          </a:solidFill>
                          <a:latin typeface="Montserrat"/>
                          <a:ea typeface="Montserrat"/>
                          <a:cs typeface="Montserrat"/>
                          <a:sym typeface="Montserrat"/>
                        </a:rPr>
                        <a:t>11 pm</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a:solidFill>
                            <a:srgbClr val="2A3842"/>
                          </a:solidFill>
                          <a:latin typeface="Montserrat"/>
                          <a:ea typeface="Montserrat"/>
                          <a:cs typeface="Montserrat"/>
                          <a:sym typeface="Montserrat"/>
                        </a:rPr>
                        <a:t>Venue closes</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graphicFrame>
        <p:nvGraphicFramePr>
          <p:cNvPr id="560" name="Shape 560"/>
          <p:cNvGraphicFramePr/>
          <p:nvPr/>
        </p:nvGraphicFramePr>
        <p:xfrm>
          <a:off x="6663350" y="4845563"/>
          <a:ext cx="6242200" cy="3284740"/>
        </p:xfrm>
        <a:graphic>
          <a:graphicData uri="http://schemas.openxmlformats.org/drawingml/2006/table">
            <a:tbl>
              <a:tblPr>
                <a:noFill/>
                <a:tableStyleId>{43399413-4C59-475D-B99D-7C4F634014EC}</a:tableStyleId>
              </a:tblPr>
              <a:tblGrid>
                <a:gridCol w="2080875"/>
                <a:gridCol w="4161325"/>
              </a:tblGrid>
              <a:tr h="508000">
                <a:tc>
                  <a:txBody>
                    <a:bodyPr/>
                    <a:lstStyle/>
                    <a:p>
                      <a:pPr marL="0" lvl="0" indent="0" algn="r" rtl="0">
                        <a:lnSpc>
                          <a:spcPct val="100000"/>
                        </a:lnSpc>
                        <a:spcBef>
                          <a:spcPts val="0"/>
                        </a:spcBef>
                        <a:spcAft>
                          <a:spcPts val="0"/>
                        </a:spcAft>
                        <a:buNone/>
                      </a:pPr>
                      <a:r>
                        <a:rPr lang="en-US" sz="2300" b="1" dirty="0">
                          <a:solidFill>
                            <a:srgbClr val="0DB14B"/>
                          </a:solidFill>
                          <a:latin typeface="Montserrat"/>
                          <a:ea typeface="Montserrat"/>
                          <a:cs typeface="Montserrat"/>
                          <a:sym typeface="Montserrat"/>
                        </a:rPr>
                        <a:t>9 am</a:t>
                      </a:r>
                      <a:endParaRPr sz="2300" dirty="0"/>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a:solidFill>
                            <a:srgbClr val="2A3842"/>
                          </a:solidFill>
                          <a:latin typeface="Montserrat"/>
                          <a:ea typeface="Montserrat"/>
                          <a:cs typeface="Montserrat"/>
                          <a:sym typeface="Montserrat"/>
                        </a:rPr>
                        <a:t>Show up</a:t>
                      </a:r>
                      <a:endParaRPr sz="2300"/>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73675">
                <a:tc>
                  <a:txBody>
                    <a:bodyPr/>
                    <a:lstStyle/>
                    <a:p>
                      <a:pPr marL="0" lvl="0" indent="0" algn="r" rtl="0">
                        <a:lnSpc>
                          <a:spcPct val="100000"/>
                        </a:lnSpc>
                        <a:spcBef>
                          <a:spcPts val="0"/>
                        </a:spcBef>
                        <a:spcAft>
                          <a:spcPts val="0"/>
                        </a:spcAft>
                        <a:buNone/>
                      </a:pPr>
                      <a:r>
                        <a:rPr lang="en-US" sz="2300" b="1">
                          <a:solidFill>
                            <a:srgbClr val="0DB14B"/>
                          </a:solidFill>
                          <a:latin typeface="Montserrat"/>
                          <a:ea typeface="Montserrat"/>
                          <a:cs typeface="Montserrat"/>
                          <a:sym typeface="Montserrat"/>
                        </a:rPr>
                        <a:t>10 am</a:t>
                      </a:r>
                      <a:endParaRPr sz="2300"/>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dirty="0">
                          <a:solidFill>
                            <a:srgbClr val="2A3842"/>
                          </a:solidFill>
                          <a:latin typeface="Montserrat"/>
                          <a:ea typeface="Montserrat"/>
                          <a:cs typeface="Montserrat"/>
                          <a:sym typeface="Montserrat"/>
                        </a:rPr>
                        <a:t>Last </a:t>
                      </a:r>
                      <a:r>
                        <a:rPr lang="en-US" sz="2300" dirty="0" smtClean="0">
                          <a:solidFill>
                            <a:srgbClr val="2A3842"/>
                          </a:solidFill>
                          <a:latin typeface="Montserrat"/>
                          <a:ea typeface="Montserrat"/>
                          <a:cs typeface="Montserrat"/>
                          <a:sym typeface="Montserrat"/>
                        </a:rPr>
                        <a:t>pivots &amp; mentor hours</a:t>
                      </a:r>
                      <a:endParaRPr sz="2300" dirty="0"/>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r>
              <a:tr h="554500">
                <a:tc>
                  <a:txBody>
                    <a:bodyPr/>
                    <a:lstStyle/>
                    <a:p>
                      <a:pPr marL="0" lvl="0" indent="0" algn="r" rtl="0">
                        <a:lnSpc>
                          <a:spcPct val="100000"/>
                        </a:lnSpc>
                        <a:spcBef>
                          <a:spcPts val="0"/>
                        </a:spcBef>
                        <a:spcAft>
                          <a:spcPts val="0"/>
                        </a:spcAft>
                        <a:buNone/>
                      </a:pPr>
                      <a:r>
                        <a:rPr lang="en-US" sz="2300" b="1" dirty="0" smtClean="0">
                          <a:solidFill>
                            <a:srgbClr val="0DB14B"/>
                          </a:solidFill>
                          <a:latin typeface="Montserrat"/>
                          <a:ea typeface="Montserrat"/>
                          <a:cs typeface="Montserrat"/>
                          <a:sym typeface="Montserrat"/>
                        </a:rPr>
                        <a:t>12 </a:t>
                      </a:r>
                      <a:r>
                        <a:rPr lang="en-US" sz="2300" b="1" dirty="0">
                          <a:solidFill>
                            <a:srgbClr val="0DB14B"/>
                          </a:solidFill>
                          <a:latin typeface="Montserrat"/>
                          <a:ea typeface="Montserrat"/>
                          <a:cs typeface="Montserrat"/>
                          <a:sym typeface="Montserrat"/>
                        </a:rPr>
                        <a:t>pm</a:t>
                      </a:r>
                      <a:endParaRPr sz="2300" dirty="0"/>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dirty="0" smtClean="0">
                          <a:solidFill>
                            <a:srgbClr val="2A3842"/>
                          </a:solidFill>
                          <a:latin typeface="Montserrat"/>
                          <a:ea typeface="Montserrat"/>
                          <a:cs typeface="Montserrat"/>
                          <a:sym typeface="Montserrat"/>
                        </a:rPr>
                        <a:t>Lunch and check-ins</a:t>
                      </a:r>
                      <a:endParaRPr lang="en-US" sz="2300" dirty="0"/>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r>
              <a:tr h="554500">
                <a:tc>
                  <a:txBody>
                    <a:bodyPr/>
                    <a:lstStyle/>
                    <a:p>
                      <a:pPr marL="0" lvl="0" indent="0" algn="r" rtl="0">
                        <a:lnSpc>
                          <a:spcPct val="100000"/>
                        </a:lnSpc>
                        <a:spcBef>
                          <a:spcPts val="0"/>
                        </a:spcBef>
                        <a:spcAft>
                          <a:spcPts val="0"/>
                        </a:spcAft>
                        <a:buNone/>
                      </a:pPr>
                      <a:r>
                        <a:rPr lang="en-US" sz="2300" b="1" dirty="0" smtClean="0">
                          <a:solidFill>
                            <a:srgbClr val="0DB14B"/>
                          </a:solidFill>
                          <a:latin typeface="Montserrat"/>
                          <a:ea typeface="Montserrat"/>
                          <a:cs typeface="Montserrat"/>
                          <a:sym typeface="Montserrat"/>
                        </a:rPr>
                        <a:t>2 pm</a:t>
                      </a:r>
                      <a:endParaRPr sz="2300" dirty="0"/>
                    </a:p>
                  </a:txBody>
                  <a:tcPr marL="91425" marR="91425" marT="91425" marB="914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a:solidFill>
                            <a:srgbClr val="2A3842"/>
                          </a:solidFill>
                          <a:latin typeface="Montserrat"/>
                          <a:ea typeface="Montserrat"/>
                          <a:cs typeface="Montserrat"/>
                          <a:sym typeface="Montserrat"/>
                        </a:rPr>
                        <a:t>Tech check</a:t>
                      </a:r>
                      <a:endParaRPr sz="2300"/>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r>
              <a:tr h="554500">
                <a:tc>
                  <a:txBody>
                    <a:bodyPr/>
                    <a:lstStyle/>
                    <a:p>
                      <a:pPr marL="0" lvl="0" indent="0" algn="r" rtl="0">
                        <a:lnSpc>
                          <a:spcPct val="100000"/>
                        </a:lnSpc>
                        <a:spcBef>
                          <a:spcPts val="0"/>
                        </a:spcBef>
                        <a:spcAft>
                          <a:spcPts val="0"/>
                        </a:spcAft>
                        <a:buNone/>
                      </a:pPr>
                      <a:r>
                        <a:rPr lang="en-US" sz="2300" b="1" dirty="0" smtClean="0">
                          <a:solidFill>
                            <a:srgbClr val="0DB14B"/>
                          </a:solidFill>
                          <a:latin typeface="Montserrat"/>
                          <a:ea typeface="Montserrat"/>
                          <a:cs typeface="Montserrat"/>
                          <a:sym typeface="Montserrat"/>
                        </a:rPr>
                        <a:t>3:30 </a:t>
                      </a:r>
                      <a:r>
                        <a:rPr lang="en-US" sz="2300" b="1" dirty="0">
                          <a:solidFill>
                            <a:srgbClr val="0DB14B"/>
                          </a:solidFill>
                          <a:latin typeface="Montserrat"/>
                          <a:ea typeface="Montserrat"/>
                          <a:cs typeface="Montserrat"/>
                          <a:sym typeface="Montserrat"/>
                        </a:rPr>
                        <a:t>pm</a:t>
                      </a:r>
                      <a:endParaRPr sz="2300" dirty="0"/>
                    </a:p>
                  </a:txBody>
                  <a:tcPr marL="91425" marR="91425" marT="91425" marB="914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dirty="0" smtClean="0">
                          <a:solidFill>
                            <a:srgbClr val="2A3842"/>
                          </a:solidFill>
                          <a:latin typeface="Montserrat"/>
                          <a:ea typeface="Montserrat"/>
                          <a:cs typeface="Montserrat"/>
                          <a:sym typeface="Montserrat"/>
                        </a:rPr>
                        <a:t>Pitches</a:t>
                      </a:r>
                      <a:endParaRPr sz="2300" dirty="0"/>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r>
              <a:tr h="554500">
                <a:tc>
                  <a:txBody>
                    <a:bodyPr/>
                    <a:lstStyle/>
                    <a:p>
                      <a:pPr marL="0" lvl="0" indent="0" algn="r" rtl="0">
                        <a:lnSpc>
                          <a:spcPct val="100000"/>
                        </a:lnSpc>
                        <a:spcBef>
                          <a:spcPts val="0"/>
                        </a:spcBef>
                        <a:spcAft>
                          <a:spcPts val="0"/>
                        </a:spcAft>
                        <a:buNone/>
                      </a:pPr>
                      <a:r>
                        <a:rPr lang="en-US" sz="2300" b="1" dirty="0" smtClean="0">
                          <a:solidFill>
                            <a:srgbClr val="0DB14B"/>
                          </a:solidFill>
                          <a:latin typeface="Montserrat"/>
                          <a:ea typeface="Montserrat"/>
                          <a:cs typeface="Montserrat"/>
                          <a:sym typeface="Montserrat"/>
                        </a:rPr>
                        <a:t>5:30 </a:t>
                      </a:r>
                      <a:r>
                        <a:rPr lang="en-US" sz="2300" b="1" dirty="0">
                          <a:solidFill>
                            <a:srgbClr val="0DB14B"/>
                          </a:solidFill>
                          <a:latin typeface="Montserrat"/>
                          <a:ea typeface="Montserrat"/>
                          <a:cs typeface="Montserrat"/>
                          <a:sym typeface="Montserrat"/>
                        </a:rPr>
                        <a:t>pm</a:t>
                      </a:r>
                      <a:endParaRPr sz="2300" b="1" dirty="0">
                        <a:solidFill>
                          <a:srgbClr val="0DB14B"/>
                        </a:solidFill>
                        <a:latin typeface="Montserrat"/>
                        <a:ea typeface="Montserrat"/>
                        <a:cs typeface="Montserrat"/>
                        <a:sym typeface="Montserrat"/>
                      </a:endParaRPr>
                    </a:p>
                  </a:txBody>
                  <a:tcPr marL="91425" marR="91425" marT="91425" marB="914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rtl="0">
                        <a:lnSpc>
                          <a:spcPct val="100000"/>
                        </a:lnSpc>
                        <a:spcBef>
                          <a:spcPts val="0"/>
                        </a:spcBef>
                        <a:spcAft>
                          <a:spcPts val="0"/>
                        </a:spcAft>
                        <a:buNone/>
                      </a:pPr>
                      <a:r>
                        <a:rPr lang="en-US" sz="2300" dirty="0" smtClean="0">
                          <a:solidFill>
                            <a:srgbClr val="2A3842"/>
                          </a:solidFill>
                          <a:latin typeface="Montserrat"/>
                          <a:ea typeface="Montserrat"/>
                          <a:cs typeface="Montserrat"/>
                          <a:sym typeface="Montserrat"/>
                        </a:rPr>
                        <a:t>It’s over!</a:t>
                      </a:r>
                      <a:endParaRPr sz="2300" dirty="0">
                        <a:solidFill>
                          <a:srgbClr val="2A3842"/>
                        </a:solidFill>
                        <a:latin typeface="Montserrat"/>
                        <a:ea typeface="Montserrat"/>
                        <a:cs typeface="Montserrat"/>
                        <a:sym typeface="Montserrat"/>
                      </a:endParaRPr>
                    </a:p>
                  </a:txBody>
                  <a:tcPr marL="91425" marR="91425" marT="91425" marB="914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B14B"/>
        </a:solidFill>
        <a:effectLst/>
      </p:bgPr>
    </p:bg>
    <p:spTree>
      <p:nvGrpSpPr>
        <p:cNvPr id="1" name="Shape 775"/>
        <p:cNvGrpSpPr/>
        <p:nvPr/>
      </p:nvGrpSpPr>
      <p:grpSpPr>
        <a:xfrm>
          <a:off x="0" y="0"/>
          <a:ext cx="0" cy="0"/>
          <a:chOff x="0" y="0"/>
          <a:chExt cx="0" cy="0"/>
        </a:xfrm>
      </p:grpSpPr>
      <p:sp>
        <p:nvSpPr>
          <p:cNvPr id="776" name="Shape 776"/>
          <p:cNvSpPr/>
          <p:nvPr/>
        </p:nvSpPr>
        <p:spPr>
          <a:xfrm>
            <a:off x="1141249" y="4254500"/>
            <a:ext cx="10722302" cy="1244600"/>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Montserrat"/>
              <a:buNone/>
            </a:pPr>
            <a:r>
              <a:rPr lang="en-US" sz="7000" b="1">
                <a:solidFill>
                  <a:srgbClr val="FFFFFF"/>
                </a:solidFill>
                <a:latin typeface="Montserrat"/>
                <a:ea typeface="Montserrat"/>
                <a:cs typeface="Montserrat"/>
                <a:sym typeface="Montserrat"/>
              </a:rPr>
              <a:t>J</a:t>
            </a:r>
            <a:r>
              <a:rPr lang="en-US" sz="7000" b="1" i="0" u="none" strike="noStrike" cap="none">
                <a:solidFill>
                  <a:srgbClr val="FFFFFF"/>
                </a:solidFill>
                <a:latin typeface="Montserrat"/>
                <a:ea typeface="Montserrat"/>
                <a:cs typeface="Montserrat"/>
                <a:sym typeface="Montserrat"/>
              </a:rPr>
              <a:t>udging </a:t>
            </a:r>
            <a:r>
              <a:rPr lang="en-US" sz="7000" b="1">
                <a:solidFill>
                  <a:srgbClr val="FFFFFF"/>
                </a:solidFill>
                <a:latin typeface="Montserrat"/>
                <a:ea typeface="Montserrat"/>
                <a:cs typeface="Montserrat"/>
                <a:sym typeface="Montserrat"/>
              </a:rPr>
              <a:t>C</a:t>
            </a:r>
            <a:r>
              <a:rPr lang="en-US" sz="7000" b="1" i="0" u="none" strike="noStrike" cap="none">
                <a:solidFill>
                  <a:srgbClr val="FFFFFF"/>
                </a:solidFill>
                <a:latin typeface="Montserrat"/>
                <a:ea typeface="Montserrat"/>
                <a:cs typeface="Montserrat"/>
                <a:sym typeface="Montserrat"/>
              </a:rPr>
              <a:t>riteria</a:t>
            </a:r>
            <a:endParaRPr/>
          </a:p>
        </p:txBody>
      </p:sp>
      <p:pic>
        <p:nvPicPr>
          <p:cNvPr id="777" name="Shape 777" descr="pasted-image.pdf"/>
          <p:cNvPicPr preferRelativeResize="0"/>
          <p:nvPr/>
        </p:nvPicPr>
        <p:blipFill rotWithShape="1">
          <a:blip r:embed="rId3">
            <a:alphaModFix/>
          </a:blip>
          <a:srcRect/>
          <a:stretch/>
        </p:blipFill>
        <p:spPr>
          <a:xfrm>
            <a:off x="11734800" y="8820549"/>
            <a:ext cx="927100" cy="5936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571" name="Shape 571" descr="pasted-image.pdf"/>
          <p:cNvPicPr preferRelativeResize="0"/>
          <p:nvPr/>
        </p:nvPicPr>
        <p:blipFill rotWithShape="1">
          <a:blip r:embed="rId3">
            <a:alphaModFix/>
          </a:blip>
          <a:srcRect/>
          <a:stretch/>
        </p:blipFill>
        <p:spPr>
          <a:xfrm>
            <a:off x="11736606" y="8808486"/>
            <a:ext cx="930235" cy="595629"/>
          </a:xfrm>
          <a:prstGeom prst="rect">
            <a:avLst/>
          </a:prstGeom>
          <a:noFill/>
          <a:ln>
            <a:noFill/>
          </a:ln>
        </p:spPr>
      </p:pic>
      <p:sp>
        <p:nvSpPr>
          <p:cNvPr id="572" name="Shape 572"/>
          <p:cNvSpPr/>
          <p:nvPr/>
        </p:nvSpPr>
        <p:spPr>
          <a:xfrm>
            <a:off x="7096962" y="2811780"/>
            <a:ext cx="5521106" cy="1259841"/>
          </a:xfrm>
          <a:prstGeom prst="rect">
            <a:avLst/>
          </a:prstGeom>
          <a:noFill/>
          <a:ln>
            <a:noFill/>
          </a:ln>
        </p:spPr>
        <p:txBody>
          <a:bodyPr spcFirstLastPara="1" wrap="square" lIns="50800" tIns="50800" rIns="50800" bIns="50800" anchor="ctr" anchorCtr="0">
            <a:noAutofit/>
          </a:bodyPr>
          <a:lstStyle/>
          <a:p>
            <a:pPr marL="457200" marR="0" lvl="0" indent="-457200" algn="l" rtl="0">
              <a:lnSpc>
                <a:spcPct val="110000"/>
              </a:lnSpc>
              <a:spcBef>
                <a:spcPts val="0"/>
              </a:spcBef>
              <a:spcAft>
                <a:spcPts val="0"/>
              </a:spcAft>
              <a:buClr>
                <a:srgbClr val="0DB14B"/>
              </a:buClr>
              <a:buFont typeface="Montserrat"/>
              <a:buNone/>
            </a:pPr>
            <a:r>
              <a:rPr lang="en-US" sz="3500">
                <a:solidFill>
                  <a:srgbClr val="0DB14B"/>
                </a:solidFill>
                <a:latin typeface="Montserrat"/>
                <a:ea typeface="Montserrat"/>
                <a:cs typeface="Montserrat"/>
                <a:sym typeface="Montserrat"/>
              </a:rPr>
              <a:t>D</a:t>
            </a:r>
            <a:r>
              <a:rPr lang="en-US" sz="3500" b="0" i="0" u="none" strike="noStrike" cap="none">
                <a:solidFill>
                  <a:srgbClr val="0DB14B"/>
                </a:solidFill>
                <a:latin typeface="Montserrat"/>
                <a:ea typeface="Montserrat"/>
                <a:cs typeface="Montserrat"/>
                <a:sym typeface="Montserrat"/>
              </a:rPr>
              <a:t>id your team get out </a:t>
            </a:r>
            <a:endParaRPr/>
          </a:p>
          <a:p>
            <a:pPr marL="457200" marR="0" lvl="0" indent="-457200" algn="l" rtl="0">
              <a:lnSpc>
                <a:spcPct val="110000"/>
              </a:lnSpc>
              <a:spcBef>
                <a:spcPts val="0"/>
              </a:spcBef>
              <a:spcAft>
                <a:spcPts val="0"/>
              </a:spcAft>
              <a:buClr>
                <a:srgbClr val="0DB14B"/>
              </a:buClr>
              <a:buFont typeface="Montserrat"/>
              <a:buNone/>
            </a:pPr>
            <a:r>
              <a:rPr lang="en-US" sz="3500" b="0" i="0" u="none" strike="noStrike" cap="none">
                <a:solidFill>
                  <a:srgbClr val="0DB14B"/>
                </a:solidFill>
                <a:latin typeface="Montserrat"/>
                <a:ea typeface="Montserrat"/>
                <a:cs typeface="Montserrat"/>
                <a:sym typeface="Montserrat"/>
              </a:rPr>
              <a:t>and</a:t>
            </a:r>
            <a:r>
              <a:rPr lang="en-US" sz="3500" b="0" i="0" u="none" strike="noStrike" cap="none">
                <a:solidFill>
                  <a:srgbClr val="2A3842"/>
                </a:solidFill>
                <a:latin typeface="Montserrat"/>
                <a:ea typeface="Montserrat"/>
                <a:cs typeface="Montserrat"/>
                <a:sym typeface="Montserrat"/>
              </a:rPr>
              <a:t> </a:t>
            </a:r>
            <a:r>
              <a:rPr lang="en-US" sz="3500" b="1" i="0" u="none" strike="noStrike" cap="none">
                <a:solidFill>
                  <a:srgbClr val="2A3842"/>
                </a:solidFill>
                <a:latin typeface="Montserrat"/>
                <a:ea typeface="Montserrat"/>
                <a:cs typeface="Montserrat"/>
                <a:sym typeface="Montserrat"/>
              </a:rPr>
              <a:t>talk to customers?</a:t>
            </a:r>
            <a:endParaRPr/>
          </a:p>
        </p:txBody>
      </p:sp>
      <p:sp>
        <p:nvSpPr>
          <p:cNvPr id="573" name="Shape 573"/>
          <p:cNvSpPr/>
          <p:nvPr/>
        </p:nvSpPr>
        <p:spPr>
          <a:xfrm>
            <a:off x="7096962" y="4653280"/>
            <a:ext cx="5004722" cy="1259841"/>
          </a:xfrm>
          <a:prstGeom prst="rect">
            <a:avLst/>
          </a:prstGeom>
          <a:noFill/>
          <a:ln>
            <a:noFill/>
          </a:ln>
        </p:spPr>
        <p:txBody>
          <a:bodyPr spcFirstLastPara="1" wrap="square" lIns="50800" tIns="50800" rIns="50800" bIns="50800" anchor="ctr" anchorCtr="0">
            <a:noAutofit/>
          </a:bodyPr>
          <a:lstStyle/>
          <a:p>
            <a:pPr marL="457200" marR="0" lvl="0" indent="-457200" algn="l" rtl="0">
              <a:lnSpc>
                <a:spcPct val="110000"/>
              </a:lnSpc>
              <a:spcBef>
                <a:spcPts val="0"/>
              </a:spcBef>
              <a:spcAft>
                <a:spcPts val="0"/>
              </a:spcAft>
              <a:buClr>
                <a:srgbClr val="0DB14B"/>
              </a:buClr>
              <a:buFont typeface="Montserrat"/>
              <a:buNone/>
            </a:pPr>
            <a:r>
              <a:rPr lang="en-US" sz="3500">
                <a:solidFill>
                  <a:srgbClr val="0DB14B"/>
                </a:solidFill>
                <a:latin typeface="Montserrat"/>
                <a:ea typeface="Montserrat"/>
                <a:cs typeface="Montserrat"/>
                <a:sym typeface="Montserrat"/>
              </a:rPr>
              <a:t>A</a:t>
            </a:r>
            <a:r>
              <a:rPr lang="en-US" sz="3500" b="0" i="0" u="none" strike="noStrike" cap="none">
                <a:solidFill>
                  <a:srgbClr val="0DB14B"/>
                </a:solidFill>
                <a:latin typeface="Montserrat"/>
                <a:ea typeface="Montserrat"/>
                <a:cs typeface="Montserrat"/>
                <a:sym typeface="Montserrat"/>
              </a:rPr>
              <a:t>re you actually</a:t>
            </a:r>
            <a:endParaRPr/>
          </a:p>
          <a:p>
            <a:pPr marL="457200" marR="0" lvl="0" indent="-457200" algn="l" rtl="0">
              <a:lnSpc>
                <a:spcPct val="110000"/>
              </a:lnSpc>
              <a:spcBef>
                <a:spcPts val="0"/>
              </a:spcBef>
              <a:spcAft>
                <a:spcPts val="0"/>
              </a:spcAft>
              <a:buClr>
                <a:srgbClr val="2A3842"/>
              </a:buClr>
              <a:buFont typeface="Montserrat"/>
              <a:buNone/>
            </a:pPr>
            <a:r>
              <a:rPr lang="en-US" sz="3500" b="1" i="0" u="none" strike="noStrike" cap="none">
                <a:solidFill>
                  <a:srgbClr val="2A3842"/>
                </a:solidFill>
                <a:latin typeface="Montserrat"/>
                <a:ea typeface="Montserrat"/>
                <a:cs typeface="Montserrat"/>
                <a:sym typeface="Montserrat"/>
              </a:rPr>
              <a:t>solving a problem?</a:t>
            </a:r>
            <a:endParaRPr/>
          </a:p>
        </p:txBody>
      </p:sp>
      <p:sp>
        <p:nvSpPr>
          <p:cNvPr id="574" name="Shape 574"/>
          <p:cNvSpPr/>
          <p:nvPr/>
        </p:nvSpPr>
        <p:spPr>
          <a:xfrm>
            <a:off x="7096962" y="6494780"/>
            <a:ext cx="5521106" cy="1259841"/>
          </a:xfrm>
          <a:prstGeom prst="rect">
            <a:avLst/>
          </a:prstGeom>
          <a:noFill/>
          <a:ln>
            <a:noFill/>
          </a:ln>
        </p:spPr>
        <p:txBody>
          <a:bodyPr spcFirstLastPara="1" wrap="square" lIns="50800" tIns="50800" rIns="50800" bIns="50800" anchor="ctr" anchorCtr="0">
            <a:noAutofit/>
          </a:bodyPr>
          <a:lstStyle/>
          <a:p>
            <a:pPr marL="457200" marR="0" lvl="0" indent="-457200" algn="l" rtl="0">
              <a:lnSpc>
                <a:spcPct val="110000"/>
              </a:lnSpc>
              <a:spcBef>
                <a:spcPts val="0"/>
              </a:spcBef>
              <a:spcAft>
                <a:spcPts val="0"/>
              </a:spcAft>
              <a:buClr>
                <a:srgbClr val="0DB14B"/>
              </a:buClr>
              <a:buFont typeface="Montserrat"/>
              <a:buNone/>
            </a:pPr>
            <a:r>
              <a:rPr lang="en-US" sz="3500">
                <a:solidFill>
                  <a:srgbClr val="0DB14B"/>
                </a:solidFill>
                <a:latin typeface="Montserrat"/>
                <a:ea typeface="Montserrat"/>
                <a:cs typeface="Montserrat"/>
                <a:sym typeface="Montserrat"/>
              </a:rPr>
              <a:t>H</a:t>
            </a:r>
            <a:r>
              <a:rPr lang="en-US" sz="3500" b="0" i="0" u="none" strike="noStrike" cap="none">
                <a:solidFill>
                  <a:srgbClr val="0DB14B"/>
                </a:solidFill>
                <a:latin typeface="Montserrat"/>
                <a:ea typeface="Montserrat"/>
                <a:cs typeface="Montserrat"/>
                <a:sym typeface="Montserrat"/>
              </a:rPr>
              <a:t>ave you identified a</a:t>
            </a:r>
            <a:endParaRPr/>
          </a:p>
          <a:p>
            <a:pPr marL="457200" marR="0" lvl="0" indent="-457200" algn="l" rtl="0">
              <a:lnSpc>
                <a:spcPct val="110000"/>
              </a:lnSpc>
              <a:spcBef>
                <a:spcPts val="0"/>
              </a:spcBef>
              <a:spcAft>
                <a:spcPts val="0"/>
              </a:spcAft>
              <a:buClr>
                <a:srgbClr val="0DB14B"/>
              </a:buClr>
              <a:buFont typeface="Montserrat"/>
              <a:buNone/>
            </a:pPr>
            <a:r>
              <a:rPr lang="en-US" sz="3500" b="0" i="0" u="none" strike="noStrike" cap="none">
                <a:solidFill>
                  <a:srgbClr val="0DB14B"/>
                </a:solidFill>
                <a:latin typeface="Montserrat"/>
                <a:ea typeface="Montserrat"/>
                <a:cs typeface="Montserrat"/>
                <a:sym typeface="Montserrat"/>
              </a:rPr>
              <a:t>specific</a:t>
            </a:r>
            <a:r>
              <a:rPr lang="en-US" sz="3500" b="1" i="0" u="none" strike="noStrike" cap="none">
                <a:solidFill>
                  <a:srgbClr val="0DB14B"/>
                </a:solidFill>
                <a:latin typeface="Montserrat"/>
                <a:ea typeface="Montserrat"/>
                <a:cs typeface="Montserrat"/>
                <a:sym typeface="Montserrat"/>
              </a:rPr>
              <a:t> </a:t>
            </a:r>
            <a:r>
              <a:rPr lang="en-US" sz="3500" b="1" i="0" u="none" strike="noStrike" cap="none">
                <a:solidFill>
                  <a:srgbClr val="2A3842"/>
                </a:solidFill>
                <a:latin typeface="Montserrat"/>
                <a:ea typeface="Montserrat"/>
                <a:cs typeface="Montserrat"/>
                <a:sym typeface="Montserrat"/>
              </a:rPr>
              <a:t>target market?</a:t>
            </a:r>
            <a:endParaRPr/>
          </a:p>
        </p:txBody>
      </p:sp>
      <p:sp>
        <p:nvSpPr>
          <p:cNvPr id="575" name="Shape 575"/>
          <p:cNvSpPr/>
          <p:nvPr/>
        </p:nvSpPr>
        <p:spPr>
          <a:xfrm>
            <a:off x="-3324354" y="-1316899"/>
            <a:ext cx="9815175" cy="9815175"/>
          </a:xfrm>
          <a:prstGeom prst="ellipse">
            <a:avLst/>
          </a:prstGeom>
          <a:solidFill>
            <a:srgbClr val="2A384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576" name="Shape 576"/>
          <p:cNvSpPr/>
          <p:nvPr/>
        </p:nvSpPr>
        <p:spPr>
          <a:xfrm>
            <a:off x="582449" y="3450988"/>
            <a:ext cx="4749466" cy="1193801"/>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Montserrat"/>
              <a:buNone/>
            </a:pPr>
            <a:r>
              <a:rPr lang="en-US" sz="7000">
                <a:solidFill>
                  <a:srgbClr val="FFFFFF"/>
                </a:solidFill>
                <a:latin typeface="Montserrat"/>
                <a:ea typeface="Montserrat"/>
                <a:cs typeface="Montserrat"/>
                <a:sym typeface="Montserrat"/>
              </a:rPr>
              <a:t>V</a:t>
            </a:r>
            <a:r>
              <a:rPr lang="en-US" sz="7000" b="0" i="0" u="none" strike="noStrike" cap="none">
                <a:solidFill>
                  <a:srgbClr val="FFFFFF"/>
                </a:solidFill>
                <a:latin typeface="Montserrat"/>
                <a:ea typeface="Montserrat"/>
                <a:cs typeface="Montserrat"/>
                <a:sym typeface="Montserrat"/>
              </a:rPr>
              <a:t>alidation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Shape 581"/>
          <p:cNvSpPr/>
          <p:nvPr/>
        </p:nvSpPr>
        <p:spPr>
          <a:xfrm>
            <a:off x="6221219" y="-2109927"/>
            <a:ext cx="9609392" cy="9875588"/>
          </a:xfrm>
          <a:prstGeom prst="ellipse">
            <a:avLst/>
          </a:prstGeom>
          <a:solidFill>
            <a:srgbClr val="2A384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pic>
        <p:nvPicPr>
          <p:cNvPr id="582" name="Shape 582" descr="pasted-image.pdf"/>
          <p:cNvPicPr preferRelativeResize="0"/>
          <p:nvPr/>
        </p:nvPicPr>
        <p:blipFill rotWithShape="1">
          <a:blip r:embed="rId3">
            <a:alphaModFix/>
          </a:blip>
          <a:srcRect/>
          <a:stretch/>
        </p:blipFill>
        <p:spPr>
          <a:xfrm>
            <a:off x="11736606" y="8808486"/>
            <a:ext cx="930235" cy="595629"/>
          </a:xfrm>
          <a:prstGeom prst="rect">
            <a:avLst/>
          </a:prstGeom>
          <a:noFill/>
          <a:ln>
            <a:noFill/>
          </a:ln>
        </p:spPr>
      </p:pic>
      <p:sp>
        <p:nvSpPr>
          <p:cNvPr id="583" name="Shape 583"/>
          <p:cNvSpPr/>
          <p:nvPr/>
        </p:nvSpPr>
        <p:spPr>
          <a:xfrm>
            <a:off x="7067915" y="1989666"/>
            <a:ext cx="5292986" cy="2286001"/>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Montserrat"/>
              <a:buNone/>
            </a:pPr>
            <a:r>
              <a:rPr lang="en-US" sz="7000">
                <a:solidFill>
                  <a:srgbClr val="FFFFFF"/>
                </a:solidFill>
                <a:latin typeface="Montserrat"/>
                <a:ea typeface="Montserrat"/>
                <a:cs typeface="Montserrat"/>
                <a:sym typeface="Montserrat"/>
              </a:rPr>
              <a:t>E</a:t>
            </a:r>
            <a:r>
              <a:rPr lang="en-US" sz="7000" b="0" i="0" u="none" strike="noStrike" cap="none">
                <a:solidFill>
                  <a:srgbClr val="FFFFFF"/>
                </a:solidFill>
                <a:latin typeface="Montserrat"/>
                <a:ea typeface="Montserrat"/>
                <a:cs typeface="Montserrat"/>
                <a:sym typeface="Montserrat"/>
              </a:rPr>
              <a:t>xecution</a:t>
            </a:r>
            <a:endParaRPr/>
          </a:p>
          <a:p>
            <a:pPr marL="0" marR="0" lvl="0" indent="0" algn="ctr" rtl="0">
              <a:lnSpc>
                <a:spcPct val="100000"/>
              </a:lnSpc>
              <a:spcBef>
                <a:spcPts val="0"/>
              </a:spcBef>
              <a:spcAft>
                <a:spcPts val="0"/>
              </a:spcAft>
              <a:buClr>
                <a:srgbClr val="FFFFFF"/>
              </a:buClr>
              <a:buFont typeface="Montserrat"/>
              <a:buNone/>
            </a:pPr>
            <a:r>
              <a:rPr lang="en-US" sz="7000" b="0" i="0" u="none" strike="noStrike" cap="none">
                <a:solidFill>
                  <a:srgbClr val="FFFFFF"/>
                </a:solidFill>
                <a:latin typeface="Montserrat"/>
                <a:ea typeface="Montserrat"/>
                <a:cs typeface="Montserrat"/>
                <a:sym typeface="Montserrat"/>
              </a:rPr>
              <a:t>and </a:t>
            </a:r>
            <a:r>
              <a:rPr lang="en-US" sz="7000">
                <a:solidFill>
                  <a:srgbClr val="FFFFFF"/>
                </a:solidFill>
                <a:latin typeface="Montserrat"/>
                <a:ea typeface="Montserrat"/>
                <a:cs typeface="Montserrat"/>
                <a:sym typeface="Montserrat"/>
              </a:rPr>
              <a:t>D</a:t>
            </a:r>
            <a:r>
              <a:rPr lang="en-US" sz="7000" b="0" i="0" u="none" strike="noStrike" cap="none">
                <a:solidFill>
                  <a:srgbClr val="FFFFFF"/>
                </a:solidFill>
                <a:latin typeface="Montserrat"/>
                <a:ea typeface="Montserrat"/>
                <a:cs typeface="Montserrat"/>
                <a:sym typeface="Montserrat"/>
              </a:rPr>
              <a:t>esign</a:t>
            </a:r>
            <a:endParaRPr/>
          </a:p>
        </p:txBody>
      </p:sp>
      <p:sp>
        <p:nvSpPr>
          <p:cNvPr id="584" name="Shape 584"/>
          <p:cNvSpPr/>
          <p:nvPr/>
        </p:nvSpPr>
        <p:spPr>
          <a:xfrm>
            <a:off x="769274" y="7633025"/>
            <a:ext cx="6752400" cy="1276200"/>
          </a:xfrm>
          <a:prstGeom prst="rect">
            <a:avLst/>
          </a:prstGeom>
          <a:noFill/>
          <a:ln>
            <a:noFill/>
          </a:ln>
        </p:spPr>
        <p:txBody>
          <a:bodyPr spcFirstLastPara="1" wrap="square" lIns="50800" tIns="50800" rIns="50800" bIns="50800" anchor="t" anchorCtr="0">
            <a:noAutofit/>
          </a:bodyPr>
          <a:lstStyle/>
          <a:p>
            <a:pPr marL="457200" marR="0" lvl="0" indent="-457200" rtl="0">
              <a:lnSpc>
                <a:spcPct val="110000"/>
              </a:lnSpc>
              <a:spcBef>
                <a:spcPts val="0"/>
              </a:spcBef>
              <a:spcAft>
                <a:spcPts val="0"/>
              </a:spcAft>
              <a:buClr>
                <a:srgbClr val="0DB14B"/>
              </a:buClr>
              <a:buFont typeface="Montserrat"/>
              <a:buNone/>
            </a:pPr>
            <a:r>
              <a:rPr lang="en-US" sz="3500" b="1">
                <a:solidFill>
                  <a:srgbClr val="0DB14B"/>
                </a:solidFill>
                <a:latin typeface="Montserrat"/>
                <a:ea typeface="Montserrat"/>
                <a:cs typeface="Montserrat"/>
                <a:sym typeface="Montserrat"/>
              </a:rPr>
              <a:t>D</a:t>
            </a:r>
            <a:r>
              <a:rPr lang="en-US" sz="3500" b="1" i="0" u="none" strike="noStrike" cap="none">
                <a:solidFill>
                  <a:srgbClr val="0DB14B"/>
                </a:solidFill>
                <a:latin typeface="Montserrat"/>
                <a:ea typeface="Montserrat"/>
                <a:cs typeface="Montserrat"/>
                <a:sym typeface="Montserrat"/>
              </a:rPr>
              <a:t>esign matters!</a:t>
            </a:r>
            <a:r>
              <a:rPr lang="en-US">
                <a:latin typeface="Montserrat"/>
                <a:ea typeface="Montserrat"/>
                <a:cs typeface="Montserrat"/>
                <a:sym typeface="Montserrat"/>
              </a:rPr>
              <a:t> </a:t>
            </a:r>
            <a:endParaRPr>
              <a:latin typeface="Montserrat"/>
              <a:ea typeface="Montserrat"/>
              <a:cs typeface="Montserrat"/>
              <a:sym typeface="Montserrat"/>
            </a:endParaRPr>
          </a:p>
          <a:p>
            <a:pPr marL="457200" marR="0" lvl="0" indent="-457200" rtl="0">
              <a:lnSpc>
                <a:spcPct val="110000"/>
              </a:lnSpc>
              <a:spcBef>
                <a:spcPts val="0"/>
              </a:spcBef>
              <a:spcAft>
                <a:spcPts val="0"/>
              </a:spcAft>
              <a:buClr>
                <a:srgbClr val="0DB14B"/>
              </a:buClr>
              <a:buFont typeface="Montserrat"/>
              <a:buNone/>
            </a:pPr>
            <a:r>
              <a:rPr lang="en-US" sz="3500">
                <a:solidFill>
                  <a:srgbClr val="2A3842"/>
                </a:solidFill>
                <a:latin typeface="Montserrat"/>
                <a:ea typeface="Montserrat"/>
                <a:cs typeface="Montserrat"/>
                <a:sym typeface="Montserrat"/>
              </a:rPr>
              <a:t>Is your product easy to use?</a:t>
            </a:r>
            <a:endParaRPr>
              <a:latin typeface="Montserrat"/>
              <a:ea typeface="Montserrat"/>
              <a:cs typeface="Montserrat"/>
              <a:sym typeface="Montserrat"/>
            </a:endParaRPr>
          </a:p>
        </p:txBody>
      </p:sp>
      <p:sp>
        <p:nvSpPr>
          <p:cNvPr id="585" name="Shape 585"/>
          <p:cNvSpPr/>
          <p:nvPr/>
        </p:nvSpPr>
        <p:spPr>
          <a:xfrm>
            <a:off x="769284" y="5669280"/>
            <a:ext cx="5292985" cy="1259841"/>
          </a:xfrm>
          <a:prstGeom prst="rect">
            <a:avLst/>
          </a:prstGeom>
          <a:noFill/>
          <a:ln>
            <a:noFill/>
          </a:ln>
        </p:spPr>
        <p:txBody>
          <a:bodyPr spcFirstLastPara="1" wrap="square" lIns="50800" tIns="50800" rIns="50800" bIns="50800" anchor="ctr" anchorCtr="0">
            <a:noAutofit/>
          </a:bodyPr>
          <a:lstStyle/>
          <a:p>
            <a:pPr marL="457200" marR="0" lvl="0" indent="-457200" algn="l" rtl="0">
              <a:lnSpc>
                <a:spcPct val="110000"/>
              </a:lnSpc>
              <a:spcBef>
                <a:spcPts val="0"/>
              </a:spcBef>
              <a:spcAft>
                <a:spcPts val="0"/>
              </a:spcAft>
              <a:buClr>
                <a:srgbClr val="2A3842"/>
              </a:buClr>
              <a:buFont typeface="Montserrat"/>
              <a:buNone/>
            </a:pPr>
            <a:r>
              <a:rPr lang="en-US" sz="3500">
                <a:solidFill>
                  <a:srgbClr val="2A3842"/>
                </a:solidFill>
                <a:latin typeface="Montserrat"/>
                <a:ea typeface="Montserrat"/>
                <a:cs typeface="Montserrat"/>
                <a:sym typeface="Montserrat"/>
              </a:rPr>
              <a:t>H</a:t>
            </a:r>
            <a:r>
              <a:rPr lang="en-US" sz="3500" b="0" i="0" u="none" strike="noStrike" cap="none">
                <a:solidFill>
                  <a:srgbClr val="2A3842"/>
                </a:solidFill>
                <a:latin typeface="Montserrat"/>
                <a:ea typeface="Montserrat"/>
                <a:cs typeface="Montserrat"/>
                <a:sym typeface="Montserrat"/>
              </a:rPr>
              <a:t>ow functional is</a:t>
            </a:r>
            <a:endParaRPr/>
          </a:p>
          <a:p>
            <a:pPr marL="457200" marR="0" lvl="0" indent="-457200" algn="l" rtl="0">
              <a:lnSpc>
                <a:spcPct val="110000"/>
              </a:lnSpc>
              <a:spcBef>
                <a:spcPts val="0"/>
              </a:spcBef>
              <a:spcAft>
                <a:spcPts val="0"/>
              </a:spcAft>
              <a:buClr>
                <a:srgbClr val="2A3842"/>
              </a:buClr>
              <a:buFont typeface="Montserrat"/>
              <a:buNone/>
            </a:pPr>
            <a:r>
              <a:rPr lang="en-US" sz="3500" b="0" i="0" u="none" strike="noStrike" cap="none">
                <a:solidFill>
                  <a:srgbClr val="2A3842"/>
                </a:solidFill>
                <a:latin typeface="Montserrat"/>
                <a:ea typeface="Montserrat"/>
                <a:cs typeface="Montserrat"/>
                <a:sym typeface="Montserrat"/>
              </a:rPr>
              <a:t>your </a:t>
            </a:r>
            <a:r>
              <a:rPr lang="en-US" sz="3500" b="1" i="0" u="none" strike="noStrike" cap="none">
                <a:solidFill>
                  <a:srgbClr val="0DB14B"/>
                </a:solidFill>
                <a:latin typeface="Montserrat"/>
                <a:ea typeface="Montserrat"/>
                <a:cs typeface="Montserrat"/>
                <a:sym typeface="Montserrat"/>
              </a:rPr>
              <a:t>technical demo?</a:t>
            </a:r>
            <a:endParaRPr/>
          </a:p>
        </p:txBody>
      </p:sp>
      <p:sp>
        <p:nvSpPr>
          <p:cNvPr id="586" name="Shape 586"/>
          <p:cNvSpPr/>
          <p:nvPr/>
        </p:nvSpPr>
        <p:spPr>
          <a:xfrm>
            <a:off x="769284" y="3697287"/>
            <a:ext cx="5142769" cy="1259842"/>
          </a:xfrm>
          <a:prstGeom prst="rect">
            <a:avLst/>
          </a:prstGeom>
          <a:noFill/>
          <a:ln>
            <a:noFill/>
          </a:ln>
        </p:spPr>
        <p:txBody>
          <a:bodyPr spcFirstLastPara="1" wrap="square" lIns="50800" tIns="50800" rIns="50800" bIns="50800" anchor="ctr" anchorCtr="0">
            <a:noAutofit/>
          </a:bodyPr>
          <a:lstStyle/>
          <a:p>
            <a:pPr marL="457200" marR="0" lvl="0" indent="-457200" algn="l" rtl="0">
              <a:lnSpc>
                <a:spcPct val="110000"/>
              </a:lnSpc>
              <a:spcBef>
                <a:spcPts val="0"/>
              </a:spcBef>
              <a:spcAft>
                <a:spcPts val="0"/>
              </a:spcAft>
              <a:buClr>
                <a:srgbClr val="2A3842"/>
              </a:buClr>
              <a:buFont typeface="Montserrat"/>
              <a:buNone/>
            </a:pPr>
            <a:r>
              <a:rPr lang="en-US" sz="3500">
                <a:solidFill>
                  <a:srgbClr val="2A3842"/>
                </a:solidFill>
                <a:latin typeface="Montserrat"/>
                <a:ea typeface="Montserrat"/>
                <a:cs typeface="Montserrat"/>
                <a:sym typeface="Montserrat"/>
              </a:rPr>
              <a:t>D</a:t>
            </a:r>
            <a:r>
              <a:rPr lang="en-US" sz="3500" b="0" i="0" u="none" strike="noStrike" cap="none">
                <a:solidFill>
                  <a:srgbClr val="2A3842"/>
                </a:solidFill>
                <a:latin typeface="Montserrat"/>
                <a:ea typeface="Montserrat"/>
                <a:cs typeface="Montserrat"/>
                <a:sym typeface="Montserrat"/>
              </a:rPr>
              <a:t>o you have </a:t>
            </a:r>
            <a:endParaRPr/>
          </a:p>
          <a:p>
            <a:pPr marL="457200" marR="0" lvl="0" indent="-457200" algn="l" rtl="0">
              <a:lnSpc>
                <a:spcPct val="110000"/>
              </a:lnSpc>
              <a:spcBef>
                <a:spcPts val="0"/>
              </a:spcBef>
              <a:spcAft>
                <a:spcPts val="0"/>
              </a:spcAft>
              <a:buClr>
                <a:srgbClr val="2A3842"/>
              </a:buClr>
              <a:buFont typeface="Montserrat"/>
              <a:buNone/>
            </a:pPr>
            <a:r>
              <a:rPr lang="en-US" sz="3500" b="0" i="0" u="none" strike="noStrike" cap="none">
                <a:solidFill>
                  <a:srgbClr val="2A3842"/>
                </a:solidFill>
                <a:latin typeface="Montserrat"/>
                <a:ea typeface="Montserrat"/>
                <a:cs typeface="Montserrat"/>
                <a:sym typeface="Montserrat"/>
              </a:rPr>
              <a:t>an </a:t>
            </a:r>
            <a:r>
              <a:rPr lang="en-US" sz="3500" b="1" i="0" u="none" strike="noStrike" cap="none">
                <a:solidFill>
                  <a:srgbClr val="0DB14B"/>
                </a:solidFill>
                <a:latin typeface="Montserrat"/>
                <a:ea typeface="Montserrat"/>
                <a:cs typeface="Montserrat"/>
                <a:sym typeface="Montserrat"/>
              </a:rPr>
              <a:t>mvp or prototype?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Shape 591"/>
          <p:cNvSpPr/>
          <p:nvPr/>
        </p:nvSpPr>
        <p:spPr>
          <a:xfrm>
            <a:off x="-1618914" y="4545329"/>
            <a:ext cx="9609391" cy="9875588"/>
          </a:xfrm>
          <a:prstGeom prst="ellipse">
            <a:avLst/>
          </a:prstGeom>
          <a:solidFill>
            <a:srgbClr val="2A3842"/>
          </a:soli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Light"/>
              <a:buNone/>
            </a:pPr>
            <a:endParaRPr sz="3600" b="0" i="0" u="none" strike="noStrike" cap="none">
              <a:solidFill>
                <a:srgbClr val="000000"/>
              </a:solidFill>
              <a:latin typeface="Helvetica Neue Light"/>
              <a:ea typeface="Helvetica Neue Light"/>
              <a:cs typeface="Helvetica Neue Light"/>
              <a:sym typeface="Helvetica Neue Light"/>
            </a:endParaRPr>
          </a:p>
        </p:txBody>
      </p:sp>
      <p:pic>
        <p:nvPicPr>
          <p:cNvPr id="592" name="Shape 592" descr="pasted-image.pdf"/>
          <p:cNvPicPr preferRelativeResize="0"/>
          <p:nvPr/>
        </p:nvPicPr>
        <p:blipFill rotWithShape="1">
          <a:blip r:embed="rId3">
            <a:alphaModFix/>
          </a:blip>
          <a:srcRect/>
          <a:stretch/>
        </p:blipFill>
        <p:spPr>
          <a:xfrm>
            <a:off x="11736606" y="8808486"/>
            <a:ext cx="930235" cy="595629"/>
          </a:xfrm>
          <a:prstGeom prst="rect">
            <a:avLst/>
          </a:prstGeom>
          <a:noFill/>
          <a:ln>
            <a:noFill/>
          </a:ln>
        </p:spPr>
      </p:pic>
      <p:sp>
        <p:nvSpPr>
          <p:cNvPr id="593" name="Shape 593"/>
          <p:cNvSpPr/>
          <p:nvPr/>
        </p:nvSpPr>
        <p:spPr>
          <a:xfrm>
            <a:off x="831389" y="6841066"/>
            <a:ext cx="5292986" cy="2286001"/>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Montserrat"/>
              <a:buNone/>
            </a:pPr>
            <a:r>
              <a:rPr lang="en-US" sz="7000">
                <a:solidFill>
                  <a:srgbClr val="FFFFFF"/>
                </a:solidFill>
                <a:latin typeface="Montserrat"/>
                <a:ea typeface="Montserrat"/>
                <a:cs typeface="Montserrat"/>
                <a:sym typeface="Montserrat"/>
              </a:rPr>
              <a:t>B</a:t>
            </a:r>
            <a:r>
              <a:rPr lang="en-US" sz="7000" b="0" i="0" u="none" strike="noStrike" cap="none">
                <a:solidFill>
                  <a:srgbClr val="FFFFFF"/>
                </a:solidFill>
                <a:latin typeface="Montserrat"/>
                <a:ea typeface="Montserrat"/>
                <a:cs typeface="Montserrat"/>
                <a:sym typeface="Montserrat"/>
              </a:rPr>
              <a:t>usiness </a:t>
            </a:r>
            <a:r>
              <a:rPr lang="en-US" sz="7000">
                <a:solidFill>
                  <a:srgbClr val="FFFFFF"/>
                </a:solidFill>
                <a:latin typeface="Montserrat"/>
                <a:ea typeface="Montserrat"/>
                <a:cs typeface="Montserrat"/>
                <a:sym typeface="Montserrat"/>
              </a:rPr>
              <a:t>M</a:t>
            </a:r>
            <a:r>
              <a:rPr lang="en-US" sz="7000" b="0" i="0" u="none" strike="noStrike" cap="none">
                <a:solidFill>
                  <a:srgbClr val="FFFFFF"/>
                </a:solidFill>
                <a:latin typeface="Montserrat"/>
                <a:ea typeface="Montserrat"/>
                <a:cs typeface="Montserrat"/>
                <a:sym typeface="Montserrat"/>
              </a:rPr>
              <a:t>odel</a:t>
            </a:r>
            <a:endParaRPr/>
          </a:p>
        </p:txBody>
      </p:sp>
      <p:sp>
        <p:nvSpPr>
          <p:cNvPr id="594" name="Shape 594"/>
          <p:cNvSpPr/>
          <p:nvPr/>
        </p:nvSpPr>
        <p:spPr>
          <a:xfrm>
            <a:off x="6569559" y="4503316"/>
            <a:ext cx="4663278" cy="673101"/>
          </a:xfrm>
          <a:prstGeom prst="rect">
            <a:avLst/>
          </a:prstGeom>
          <a:noFill/>
          <a:ln>
            <a:noFill/>
          </a:ln>
        </p:spPr>
        <p:txBody>
          <a:bodyPr spcFirstLastPara="1" wrap="square" lIns="50800" tIns="50800" rIns="50800" bIns="50800" anchor="ctr" anchorCtr="0">
            <a:noAutofit/>
          </a:bodyPr>
          <a:lstStyle/>
          <a:p>
            <a:pPr marL="457200" marR="0" lvl="0" indent="-457200" algn="l" rtl="0">
              <a:lnSpc>
                <a:spcPct val="110000"/>
              </a:lnSpc>
              <a:spcBef>
                <a:spcPts val="0"/>
              </a:spcBef>
              <a:spcAft>
                <a:spcPts val="0"/>
              </a:spcAft>
              <a:buClr>
                <a:srgbClr val="2A3842"/>
              </a:buClr>
              <a:buFont typeface="Montserrat"/>
              <a:buNone/>
            </a:pPr>
            <a:r>
              <a:rPr lang="en-US" sz="3500">
                <a:solidFill>
                  <a:srgbClr val="2A3842"/>
                </a:solidFill>
                <a:latin typeface="Montserrat"/>
                <a:ea typeface="Montserrat"/>
                <a:cs typeface="Montserrat"/>
                <a:sym typeface="Montserrat"/>
              </a:rPr>
              <a:t>I</a:t>
            </a:r>
            <a:r>
              <a:rPr lang="en-US" sz="3500" b="0" i="0" u="none" strike="noStrike" cap="none">
                <a:solidFill>
                  <a:srgbClr val="2A3842"/>
                </a:solidFill>
                <a:latin typeface="Montserrat"/>
                <a:ea typeface="Montserrat"/>
                <a:cs typeface="Montserrat"/>
                <a:sym typeface="Montserrat"/>
              </a:rPr>
              <a:t>s your idea </a:t>
            </a:r>
            <a:r>
              <a:rPr lang="en-US" sz="3500" b="1" i="0" u="none" strike="noStrike" cap="none">
                <a:solidFill>
                  <a:srgbClr val="0CB04B"/>
                </a:solidFill>
                <a:latin typeface="Montserrat"/>
                <a:ea typeface="Montserrat"/>
                <a:cs typeface="Montserrat"/>
                <a:sym typeface="Montserrat"/>
              </a:rPr>
              <a:t>unique?</a:t>
            </a:r>
            <a:endParaRPr/>
          </a:p>
        </p:txBody>
      </p:sp>
      <p:sp>
        <p:nvSpPr>
          <p:cNvPr id="595" name="Shape 595"/>
          <p:cNvSpPr/>
          <p:nvPr/>
        </p:nvSpPr>
        <p:spPr>
          <a:xfrm>
            <a:off x="6446800" y="2622450"/>
            <a:ext cx="6219900" cy="1259700"/>
          </a:xfrm>
          <a:prstGeom prst="rect">
            <a:avLst/>
          </a:prstGeom>
          <a:noFill/>
          <a:ln>
            <a:noFill/>
          </a:ln>
        </p:spPr>
        <p:txBody>
          <a:bodyPr spcFirstLastPara="1" wrap="square" lIns="50800" tIns="50800" rIns="50800" bIns="50800" anchor="ctr" anchorCtr="0">
            <a:noAutofit/>
          </a:bodyPr>
          <a:lstStyle/>
          <a:p>
            <a:pPr marL="457200" marR="0" lvl="0" indent="-457200" algn="l" rtl="0">
              <a:lnSpc>
                <a:spcPct val="110000"/>
              </a:lnSpc>
              <a:spcBef>
                <a:spcPts val="0"/>
              </a:spcBef>
              <a:spcAft>
                <a:spcPts val="0"/>
              </a:spcAft>
              <a:buClr>
                <a:srgbClr val="2A3842"/>
              </a:buClr>
              <a:buFont typeface="Montserrat"/>
              <a:buNone/>
            </a:pPr>
            <a:r>
              <a:rPr lang="en-US" sz="3500">
                <a:solidFill>
                  <a:srgbClr val="2A3842"/>
                </a:solidFill>
                <a:latin typeface="Montserrat"/>
                <a:ea typeface="Montserrat"/>
                <a:cs typeface="Montserrat"/>
                <a:sym typeface="Montserrat"/>
              </a:rPr>
              <a:t>A</a:t>
            </a:r>
            <a:r>
              <a:rPr lang="en-US" sz="3500" b="0" i="0" u="none" strike="noStrike" cap="none">
                <a:solidFill>
                  <a:srgbClr val="2A3842"/>
                </a:solidFill>
                <a:latin typeface="Montserrat"/>
                <a:ea typeface="Montserrat"/>
                <a:cs typeface="Montserrat"/>
                <a:sym typeface="Montserrat"/>
              </a:rPr>
              <a:t>re you solving a problem?</a:t>
            </a:r>
            <a:endParaRPr/>
          </a:p>
          <a:p>
            <a:pPr marL="457200" marR="0" lvl="0" indent="-457200" algn="l" rtl="0">
              <a:lnSpc>
                <a:spcPct val="110000"/>
              </a:lnSpc>
              <a:spcBef>
                <a:spcPts val="0"/>
              </a:spcBef>
              <a:spcAft>
                <a:spcPts val="0"/>
              </a:spcAft>
              <a:buClr>
                <a:srgbClr val="2A3842"/>
              </a:buClr>
              <a:buFont typeface="Montserrat"/>
              <a:buNone/>
            </a:pPr>
            <a:r>
              <a:rPr lang="en-US" sz="3500" b="0" i="0" u="none" strike="noStrike" cap="none">
                <a:solidFill>
                  <a:srgbClr val="2A3842"/>
                </a:solidFill>
                <a:latin typeface="Montserrat"/>
                <a:ea typeface="Montserrat"/>
                <a:cs typeface="Montserrat"/>
                <a:sym typeface="Montserrat"/>
              </a:rPr>
              <a:t>(</a:t>
            </a:r>
            <a:r>
              <a:rPr lang="en-US" sz="3500" b="1" i="0" u="none" strike="noStrike" cap="none">
                <a:solidFill>
                  <a:srgbClr val="0DB14B"/>
                </a:solidFill>
                <a:latin typeface="Montserrat"/>
                <a:ea typeface="Montserrat"/>
                <a:cs typeface="Montserrat"/>
                <a:sym typeface="Montserrat"/>
              </a:rPr>
              <a:t>value proposition</a:t>
            </a:r>
            <a:r>
              <a:rPr lang="en-US" sz="3500" b="0" i="0" u="none" strike="noStrike" cap="none">
                <a:solidFill>
                  <a:srgbClr val="2A3842"/>
                </a:solidFill>
                <a:latin typeface="Montserrat"/>
                <a:ea typeface="Montserrat"/>
                <a:cs typeface="Montserrat"/>
                <a:sym typeface="Montserrat"/>
              </a:rPr>
              <a:t>)</a:t>
            </a:r>
            <a:endParaRPr/>
          </a:p>
        </p:txBody>
      </p:sp>
      <p:sp>
        <p:nvSpPr>
          <p:cNvPr id="596" name="Shape 596"/>
          <p:cNvSpPr/>
          <p:nvPr/>
        </p:nvSpPr>
        <p:spPr>
          <a:xfrm>
            <a:off x="6459492" y="755546"/>
            <a:ext cx="6496378" cy="1259841"/>
          </a:xfrm>
          <a:prstGeom prst="rect">
            <a:avLst/>
          </a:prstGeom>
          <a:noFill/>
          <a:ln>
            <a:noFill/>
          </a:ln>
        </p:spPr>
        <p:txBody>
          <a:bodyPr spcFirstLastPara="1" wrap="square" lIns="50800" tIns="50800" rIns="50800" bIns="50800" anchor="ctr" anchorCtr="0">
            <a:noAutofit/>
          </a:bodyPr>
          <a:lstStyle/>
          <a:p>
            <a:pPr marL="457200" marR="0" lvl="0" indent="-457200" algn="l" rtl="0">
              <a:lnSpc>
                <a:spcPct val="110000"/>
              </a:lnSpc>
              <a:spcBef>
                <a:spcPts val="0"/>
              </a:spcBef>
              <a:spcAft>
                <a:spcPts val="0"/>
              </a:spcAft>
              <a:buClr>
                <a:srgbClr val="2A3842"/>
              </a:buClr>
              <a:buFont typeface="Montserrat"/>
              <a:buNone/>
            </a:pPr>
            <a:r>
              <a:rPr lang="en-US" sz="3500">
                <a:solidFill>
                  <a:srgbClr val="2A3842"/>
                </a:solidFill>
                <a:latin typeface="Montserrat"/>
                <a:ea typeface="Montserrat"/>
                <a:cs typeface="Montserrat"/>
                <a:sym typeface="Montserrat"/>
              </a:rPr>
              <a:t>H</a:t>
            </a:r>
            <a:r>
              <a:rPr lang="en-US" sz="3500" b="0" i="0" u="none" strike="noStrike" cap="none">
                <a:solidFill>
                  <a:srgbClr val="2A3842"/>
                </a:solidFill>
                <a:latin typeface="Montserrat"/>
                <a:ea typeface="Montserrat"/>
                <a:cs typeface="Montserrat"/>
                <a:sym typeface="Montserrat"/>
              </a:rPr>
              <a:t>ow do you plan on making</a:t>
            </a:r>
            <a:endParaRPr/>
          </a:p>
          <a:p>
            <a:pPr marL="457200" marR="0" lvl="0" indent="-457200" algn="l" rtl="0">
              <a:lnSpc>
                <a:spcPct val="110000"/>
              </a:lnSpc>
              <a:spcBef>
                <a:spcPts val="0"/>
              </a:spcBef>
              <a:spcAft>
                <a:spcPts val="0"/>
              </a:spcAft>
              <a:buClr>
                <a:srgbClr val="2A3842"/>
              </a:buClr>
              <a:buFont typeface="Montserrat"/>
              <a:buNone/>
            </a:pPr>
            <a:r>
              <a:rPr lang="en-US" sz="3500" b="0" i="0" u="none" strike="noStrike" cap="none">
                <a:solidFill>
                  <a:srgbClr val="2A3842"/>
                </a:solidFill>
                <a:latin typeface="Montserrat"/>
                <a:ea typeface="Montserrat"/>
                <a:cs typeface="Montserrat"/>
                <a:sym typeface="Montserrat"/>
              </a:rPr>
              <a:t>this a</a:t>
            </a:r>
            <a:r>
              <a:rPr lang="en-US" sz="3500" b="0" i="0" u="none" strike="noStrike" cap="none">
                <a:solidFill>
                  <a:srgbClr val="FFFFFF"/>
                </a:solidFill>
                <a:latin typeface="Montserrat"/>
                <a:ea typeface="Montserrat"/>
                <a:cs typeface="Montserrat"/>
                <a:sym typeface="Montserrat"/>
              </a:rPr>
              <a:t> </a:t>
            </a:r>
            <a:r>
              <a:rPr lang="en-US" sz="3500" b="1" i="0" u="none" strike="noStrike" cap="none">
                <a:solidFill>
                  <a:srgbClr val="0DB14B"/>
                </a:solidFill>
                <a:latin typeface="Montserrat"/>
                <a:ea typeface="Montserrat"/>
                <a:cs typeface="Montserrat"/>
                <a:sym typeface="Montserrat"/>
              </a:rPr>
              <a:t>successful business?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Shape 671" descr="swwago2016marinabittenfotografia-229.jpg"/>
          <p:cNvPicPr preferRelativeResize="0"/>
          <p:nvPr/>
        </p:nvPicPr>
        <p:blipFill rotWithShape="1">
          <a:blip r:embed="rId3">
            <a:alphaModFix amt="9892"/>
          </a:blip>
          <a:srcRect l="13240" t="464" r="13240" b="16616"/>
          <a:stretch/>
        </p:blipFill>
        <p:spPr>
          <a:xfrm>
            <a:off x="128" y="51"/>
            <a:ext cx="13004700" cy="9753600"/>
          </a:xfrm>
          <a:prstGeom prst="rect">
            <a:avLst/>
          </a:prstGeom>
          <a:noFill/>
          <a:ln>
            <a:noFill/>
          </a:ln>
        </p:spPr>
      </p:pic>
      <p:sp>
        <p:nvSpPr>
          <p:cNvPr id="672" name="Shape 672"/>
          <p:cNvSpPr/>
          <p:nvPr/>
        </p:nvSpPr>
        <p:spPr>
          <a:xfrm>
            <a:off x="3644034" y="3500041"/>
            <a:ext cx="5716732" cy="1193801"/>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0DB14B"/>
              </a:buClr>
              <a:buFont typeface="Montserrat"/>
              <a:buNone/>
            </a:pPr>
            <a:r>
              <a:rPr lang="en-US" sz="3500" b="0" i="0" u="none" strike="noStrike" cap="none">
                <a:solidFill>
                  <a:srgbClr val="0DB14B"/>
                </a:solidFill>
                <a:latin typeface="Montserrat"/>
                <a:ea typeface="Montserrat"/>
                <a:cs typeface="Montserrat"/>
                <a:sym typeface="Montserrat"/>
              </a:rPr>
              <a:t>65% of all startup failure </a:t>
            </a:r>
            <a:r>
              <a:rPr lang="en-US" sz="3500" b="0" i="0" u="none" strike="noStrike" cap="none">
                <a:solidFill>
                  <a:srgbClr val="2A3842"/>
                </a:solidFill>
                <a:latin typeface="Montserrat"/>
                <a:ea typeface="Montserrat"/>
                <a:cs typeface="Montserrat"/>
                <a:sym typeface="Montserrat"/>
              </a:rPr>
              <a:t>is due to team issues</a:t>
            </a:r>
            <a:endParaRPr/>
          </a:p>
        </p:txBody>
      </p:sp>
      <p:sp>
        <p:nvSpPr>
          <p:cNvPr id="673" name="Shape 673"/>
          <p:cNvSpPr/>
          <p:nvPr/>
        </p:nvSpPr>
        <p:spPr>
          <a:xfrm>
            <a:off x="3706443" y="5230324"/>
            <a:ext cx="5591915" cy="1193801"/>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A3842"/>
              </a:buClr>
              <a:buFont typeface="Montserrat"/>
              <a:buNone/>
            </a:pPr>
            <a:r>
              <a:rPr lang="en-US" sz="3500" b="0" i="0" u="none" strike="noStrike" cap="none">
                <a:solidFill>
                  <a:srgbClr val="2A3842"/>
                </a:solidFill>
                <a:latin typeface="Montserrat"/>
                <a:ea typeface="Montserrat"/>
                <a:cs typeface="Montserrat"/>
                <a:sym typeface="Montserrat"/>
              </a:rPr>
              <a:t>have</a:t>
            </a:r>
            <a:r>
              <a:rPr lang="en-US" sz="3500" b="0" i="0" u="none" strike="noStrike" cap="none">
                <a:solidFill>
                  <a:srgbClr val="FFFFFF"/>
                </a:solidFill>
                <a:latin typeface="Montserrat"/>
                <a:ea typeface="Montserrat"/>
                <a:cs typeface="Montserrat"/>
                <a:sym typeface="Montserrat"/>
              </a:rPr>
              <a:t> </a:t>
            </a:r>
            <a:r>
              <a:rPr lang="en-US" sz="3500" b="0" i="0" u="none" strike="noStrike" cap="none">
                <a:solidFill>
                  <a:srgbClr val="0DB14B"/>
                </a:solidFill>
                <a:latin typeface="Montserrat"/>
                <a:ea typeface="Montserrat"/>
                <a:cs typeface="Montserrat"/>
                <a:sym typeface="Montserrat"/>
              </a:rPr>
              <a:t>diverse skill sets and perspectives</a:t>
            </a:r>
            <a:endParaRPr/>
          </a:p>
        </p:txBody>
      </p:sp>
      <p:sp>
        <p:nvSpPr>
          <p:cNvPr id="674" name="Shape 674"/>
          <p:cNvSpPr/>
          <p:nvPr/>
        </p:nvSpPr>
        <p:spPr>
          <a:xfrm>
            <a:off x="3423041" y="6960608"/>
            <a:ext cx="6158719" cy="1193801"/>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0DB14B"/>
              </a:buClr>
              <a:buFont typeface="Montserrat"/>
              <a:buNone/>
            </a:pPr>
            <a:r>
              <a:rPr lang="en-US" sz="3500" b="0" i="0" u="none" strike="noStrike" cap="none">
                <a:solidFill>
                  <a:srgbClr val="0DB14B"/>
                </a:solidFill>
                <a:latin typeface="Montserrat"/>
                <a:ea typeface="Montserrat"/>
                <a:cs typeface="Montserrat"/>
                <a:sym typeface="Montserrat"/>
              </a:rPr>
              <a:t>no one is CEO!</a:t>
            </a:r>
            <a:r>
              <a:rPr lang="en-US" sz="3500" b="0" i="0" u="none" strike="noStrike" cap="none">
                <a:solidFill>
                  <a:srgbClr val="2A3842"/>
                </a:solidFill>
                <a:latin typeface="Montserrat"/>
                <a:ea typeface="Montserrat"/>
                <a:cs typeface="Montserrat"/>
                <a:sym typeface="Montserrat"/>
              </a:rPr>
              <a:t> everyone wears as many hats</a:t>
            </a:r>
            <a:endParaRPr/>
          </a:p>
        </p:txBody>
      </p:sp>
      <p:sp>
        <p:nvSpPr>
          <p:cNvPr id="675" name="Shape 675"/>
          <p:cNvSpPr/>
          <p:nvPr/>
        </p:nvSpPr>
        <p:spPr>
          <a:xfrm>
            <a:off x="1141249" y="828552"/>
            <a:ext cx="10722302" cy="1244601"/>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2A3842"/>
              </a:buClr>
              <a:buFont typeface="Montserrat"/>
              <a:buNone/>
            </a:pPr>
            <a:r>
              <a:rPr lang="en-US" sz="7000" b="1">
                <a:solidFill>
                  <a:srgbClr val="2A3842"/>
                </a:solidFill>
                <a:latin typeface="Montserrat"/>
                <a:ea typeface="Montserrat"/>
                <a:cs typeface="Montserrat"/>
                <a:sym typeface="Montserrat"/>
              </a:rPr>
              <a:t>B</a:t>
            </a:r>
            <a:r>
              <a:rPr lang="en-US" sz="7000" b="1" i="0" u="none" strike="noStrike" cap="none">
                <a:solidFill>
                  <a:srgbClr val="2A3842"/>
                </a:solidFill>
                <a:latin typeface="Montserrat"/>
                <a:ea typeface="Montserrat"/>
                <a:cs typeface="Montserrat"/>
                <a:sym typeface="Montserrat"/>
              </a:rPr>
              <a:t>uilding the </a:t>
            </a:r>
            <a:r>
              <a:rPr lang="en-US" sz="7000" b="1">
                <a:solidFill>
                  <a:srgbClr val="2A3842"/>
                </a:solidFill>
                <a:latin typeface="Montserrat"/>
                <a:ea typeface="Montserrat"/>
                <a:cs typeface="Montserrat"/>
                <a:sym typeface="Montserrat"/>
              </a:rPr>
              <a:t>T</a:t>
            </a:r>
            <a:r>
              <a:rPr lang="en-US" sz="7000" b="1" i="0" u="none" strike="noStrike" cap="none">
                <a:solidFill>
                  <a:srgbClr val="2A3842"/>
                </a:solidFill>
                <a:latin typeface="Montserrat"/>
                <a:ea typeface="Montserrat"/>
                <a:cs typeface="Montserrat"/>
                <a:sym typeface="Montserrat"/>
              </a:rPr>
              <a:t>eam</a:t>
            </a:r>
            <a:endParaRPr/>
          </a:p>
        </p:txBody>
      </p:sp>
      <p:pic>
        <p:nvPicPr>
          <p:cNvPr id="676" name="Shape 676" descr="pasted-image.pdf"/>
          <p:cNvPicPr preferRelativeResize="0"/>
          <p:nvPr/>
        </p:nvPicPr>
        <p:blipFill rotWithShape="1">
          <a:blip r:embed="rId4">
            <a:alphaModFix/>
          </a:blip>
          <a:srcRect/>
          <a:stretch/>
        </p:blipFill>
        <p:spPr>
          <a:xfrm>
            <a:off x="11736606" y="8808486"/>
            <a:ext cx="930235" cy="5956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0"/>
        <p:cNvGrpSpPr/>
        <p:nvPr/>
      </p:nvGrpSpPr>
      <p:grpSpPr>
        <a:xfrm>
          <a:off x="0" y="0"/>
          <a:ext cx="0" cy="0"/>
          <a:chOff x="0" y="0"/>
          <a:chExt cx="0" cy="0"/>
        </a:xfrm>
      </p:grpSpPr>
      <p:pic>
        <p:nvPicPr>
          <p:cNvPr id="681" name="Shape 681" descr="Copy of _DSC3018.JPG"/>
          <p:cNvPicPr preferRelativeResize="0"/>
          <p:nvPr/>
        </p:nvPicPr>
        <p:blipFill rotWithShape="1">
          <a:blip r:embed="rId3">
            <a:alphaModFix amt="16000"/>
          </a:blip>
          <a:srcRect t="179" b="189"/>
          <a:stretch/>
        </p:blipFill>
        <p:spPr>
          <a:xfrm>
            <a:off x="-2113538" y="21807"/>
            <a:ext cx="17689200" cy="11763300"/>
          </a:xfrm>
          <a:prstGeom prst="rect">
            <a:avLst/>
          </a:prstGeom>
          <a:noFill/>
          <a:ln>
            <a:noFill/>
          </a:ln>
        </p:spPr>
      </p:pic>
      <p:sp>
        <p:nvSpPr>
          <p:cNvPr id="682" name="Shape 682"/>
          <p:cNvSpPr/>
          <p:nvPr/>
        </p:nvSpPr>
        <p:spPr>
          <a:xfrm>
            <a:off x="6489703" y="1277816"/>
            <a:ext cx="4993314" cy="1206501"/>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2A3842"/>
              </a:buClr>
              <a:buFont typeface="Montserrat"/>
              <a:buNone/>
            </a:pPr>
            <a:r>
              <a:rPr lang="en-US" sz="3500" b="1" i="0" u="none" strike="noStrike" cap="none">
                <a:solidFill>
                  <a:srgbClr val="2A3842"/>
                </a:solidFill>
                <a:latin typeface="Montserrat"/>
                <a:ea typeface="Montserrat"/>
                <a:cs typeface="Montserrat"/>
                <a:sym typeface="Montserrat"/>
              </a:rPr>
              <a:t>picking a work</a:t>
            </a:r>
            <a:r>
              <a:rPr lang="en-US" sz="3500" b="1" i="0" u="none" strike="noStrike" cap="none">
                <a:solidFill>
                  <a:srgbClr val="FFFFFF"/>
                </a:solidFill>
                <a:latin typeface="Montserrat"/>
                <a:ea typeface="Montserrat"/>
                <a:cs typeface="Montserrat"/>
                <a:sym typeface="Montserrat"/>
              </a:rPr>
              <a:t> </a:t>
            </a:r>
            <a:r>
              <a:rPr lang="en-US" sz="3500" b="1" i="0" u="none" strike="noStrike" cap="none">
                <a:solidFill>
                  <a:srgbClr val="2A3842"/>
                </a:solidFill>
                <a:latin typeface="Montserrat"/>
                <a:ea typeface="Montserrat"/>
                <a:cs typeface="Montserrat"/>
                <a:sym typeface="Montserrat"/>
              </a:rPr>
              <a:t>area</a:t>
            </a:r>
            <a:r>
              <a:rPr lang="en-US" sz="3500" b="1" i="0" u="none" strike="noStrike" cap="none">
                <a:solidFill>
                  <a:srgbClr val="0DB14B"/>
                </a:solidFill>
                <a:latin typeface="Montserrat"/>
                <a:ea typeface="Montserrat"/>
                <a:cs typeface="Montserrat"/>
                <a:sym typeface="Montserrat"/>
              </a:rPr>
              <a:t> </a:t>
            </a:r>
            <a:r>
              <a:rPr lang="en-US" sz="3500" b="0" i="0" u="none" strike="noStrike" cap="none">
                <a:solidFill>
                  <a:srgbClr val="0DB14B"/>
                </a:solidFill>
                <a:latin typeface="Montserrat"/>
                <a:ea typeface="Montserrat"/>
                <a:cs typeface="Montserrat"/>
                <a:sym typeface="Montserrat"/>
              </a:rPr>
              <a:t>for the weekend</a:t>
            </a:r>
            <a:endParaRPr/>
          </a:p>
        </p:txBody>
      </p:sp>
      <p:sp>
        <p:nvSpPr>
          <p:cNvPr id="683" name="Shape 683"/>
          <p:cNvSpPr/>
          <p:nvPr/>
        </p:nvSpPr>
        <p:spPr>
          <a:xfrm>
            <a:off x="6489703" y="5878792"/>
            <a:ext cx="5609428" cy="2832101"/>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2A3842"/>
              </a:buClr>
              <a:buFont typeface="Montserrat"/>
              <a:buNone/>
            </a:pPr>
            <a:r>
              <a:rPr lang="en-US" sz="3500" b="1" i="0" u="none" strike="noStrike" cap="none" dirty="0">
                <a:solidFill>
                  <a:srgbClr val="2A3842"/>
                </a:solidFill>
                <a:latin typeface="Montserrat"/>
                <a:ea typeface="Montserrat"/>
                <a:cs typeface="Montserrat"/>
                <a:sym typeface="Montserrat"/>
              </a:rPr>
              <a:t>making a sign with</a:t>
            </a:r>
            <a:endParaRPr sz="3600" b="0" i="0" u="none" strike="noStrike" cap="none" dirty="0">
              <a:solidFill>
                <a:srgbClr val="0DB14B"/>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DB14B"/>
              </a:buClr>
              <a:buFont typeface="Montserrat"/>
              <a:buNone/>
            </a:pPr>
            <a:r>
              <a:rPr lang="en-US" sz="3500" b="0" i="0" u="none" strike="noStrike" cap="none" dirty="0">
                <a:solidFill>
                  <a:srgbClr val="0DB14B"/>
                </a:solidFill>
                <a:latin typeface="Montserrat"/>
                <a:ea typeface="Montserrat"/>
                <a:cs typeface="Montserrat"/>
                <a:sym typeface="Montserrat"/>
              </a:rPr>
              <a:t>team </a:t>
            </a:r>
            <a:r>
              <a:rPr lang="en-US" sz="3500" b="0" i="0" u="none" strike="noStrike" cap="none" dirty="0" smtClean="0">
                <a:solidFill>
                  <a:srgbClr val="0DB14B"/>
                </a:solidFill>
                <a:latin typeface="Montserrat"/>
                <a:ea typeface="Montserrat"/>
                <a:cs typeface="Montserrat"/>
                <a:sym typeface="Montserrat"/>
              </a:rPr>
              <a:t>name</a:t>
            </a:r>
            <a:endParaRPr dirty="0"/>
          </a:p>
          <a:p>
            <a:pPr marL="0" marR="0" lvl="0" indent="0" algn="l" rtl="0">
              <a:lnSpc>
                <a:spcPct val="100000"/>
              </a:lnSpc>
              <a:spcBef>
                <a:spcPts val="0"/>
              </a:spcBef>
              <a:spcAft>
                <a:spcPts val="0"/>
              </a:spcAft>
              <a:buClr>
                <a:srgbClr val="0DB14B"/>
              </a:buClr>
              <a:buFont typeface="Montserrat"/>
              <a:buNone/>
            </a:pPr>
            <a:r>
              <a:rPr lang="en-US" sz="3500" b="0" i="0" u="none" strike="noStrike" cap="none" dirty="0">
                <a:solidFill>
                  <a:srgbClr val="0DB14B"/>
                </a:solidFill>
                <a:latin typeface="Montserrat"/>
                <a:ea typeface="Montserrat"/>
                <a:cs typeface="Montserrat"/>
                <a:sym typeface="Montserrat"/>
              </a:rPr>
              <a:t>members</a:t>
            </a:r>
            <a:endParaRPr dirty="0"/>
          </a:p>
          <a:p>
            <a:pPr marL="0" marR="0" lvl="0" indent="0" algn="l" rtl="0">
              <a:lnSpc>
                <a:spcPct val="100000"/>
              </a:lnSpc>
              <a:spcBef>
                <a:spcPts val="0"/>
              </a:spcBef>
              <a:spcAft>
                <a:spcPts val="0"/>
              </a:spcAft>
              <a:buClr>
                <a:srgbClr val="0DB14B"/>
              </a:buClr>
              <a:buFont typeface="Montserrat"/>
              <a:buNone/>
            </a:pPr>
            <a:r>
              <a:rPr lang="en-US" sz="3500" b="0" i="0" u="none" strike="noStrike" cap="none" dirty="0">
                <a:solidFill>
                  <a:srgbClr val="0DB14B"/>
                </a:solidFill>
                <a:latin typeface="Montserrat"/>
                <a:ea typeface="Montserrat"/>
                <a:cs typeface="Montserrat"/>
                <a:sym typeface="Montserrat"/>
              </a:rPr>
              <a:t>problem</a:t>
            </a:r>
            <a:endParaRPr dirty="0"/>
          </a:p>
        </p:txBody>
      </p:sp>
      <p:sp>
        <p:nvSpPr>
          <p:cNvPr id="684" name="Shape 684"/>
          <p:cNvSpPr/>
          <p:nvPr/>
        </p:nvSpPr>
        <p:spPr>
          <a:xfrm>
            <a:off x="6489703" y="3148608"/>
            <a:ext cx="5836623" cy="2286001"/>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2A3842"/>
              </a:buClr>
              <a:buFont typeface="Montserrat"/>
              <a:buNone/>
            </a:pPr>
            <a:r>
              <a:rPr lang="en-US" sz="3500" b="1" i="0" u="none" strike="noStrike" cap="none" dirty="0">
                <a:solidFill>
                  <a:srgbClr val="2A3842"/>
                </a:solidFill>
                <a:latin typeface="Montserrat"/>
                <a:ea typeface="Montserrat"/>
                <a:cs typeface="Montserrat"/>
                <a:sym typeface="Montserrat"/>
              </a:rPr>
              <a:t>defining a scope</a:t>
            </a:r>
            <a:endParaRPr sz="3600" b="0" i="0" u="none" strike="noStrike" cap="none" dirty="0">
              <a:solidFill>
                <a:srgbClr val="0DB14B"/>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DB14B"/>
              </a:buClr>
              <a:buFont typeface="Montserrat"/>
              <a:buNone/>
            </a:pPr>
            <a:r>
              <a:rPr lang="en-US" sz="3500" b="0" i="0" u="none" strike="noStrike" cap="none" dirty="0">
                <a:solidFill>
                  <a:srgbClr val="0DB14B"/>
                </a:solidFill>
                <a:latin typeface="Montserrat"/>
                <a:ea typeface="Montserrat"/>
                <a:cs typeface="Montserrat"/>
                <a:sym typeface="Montserrat"/>
              </a:rPr>
              <a:t>brainstorm</a:t>
            </a:r>
            <a:endParaRPr dirty="0"/>
          </a:p>
          <a:p>
            <a:pPr marL="0" marR="0" lvl="0" indent="0" algn="l" rtl="0">
              <a:lnSpc>
                <a:spcPct val="100000"/>
              </a:lnSpc>
              <a:spcBef>
                <a:spcPts val="0"/>
              </a:spcBef>
              <a:spcAft>
                <a:spcPts val="0"/>
              </a:spcAft>
              <a:buClr>
                <a:srgbClr val="0DB14B"/>
              </a:buClr>
              <a:buFont typeface="Montserrat"/>
              <a:buNone/>
            </a:pPr>
            <a:r>
              <a:rPr lang="en-US" sz="3500" b="0" i="0" u="none" strike="noStrike" cap="none" dirty="0">
                <a:solidFill>
                  <a:srgbClr val="0DB14B"/>
                </a:solidFill>
                <a:latin typeface="Montserrat"/>
                <a:ea typeface="Montserrat"/>
                <a:cs typeface="Montserrat"/>
                <a:sym typeface="Montserrat"/>
              </a:rPr>
              <a:t>top 3 priorities</a:t>
            </a:r>
            <a:endParaRPr dirty="0"/>
          </a:p>
          <a:p>
            <a:pPr marL="0" marR="0" lvl="0" indent="0" algn="l" rtl="0">
              <a:lnSpc>
                <a:spcPct val="100000"/>
              </a:lnSpc>
              <a:spcBef>
                <a:spcPts val="0"/>
              </a:spcBef>
              <a:spcAft>
                <a:spcPts val="0"/>
              </a:spcAft>
              <a:buClr>
                <a:srgbClr val="0DB14B"/>
              </a:buClr>
              <a:buFont typeface="Montserrat"/>
              <a:buNone/>
            </a:pPr>
            <a:r>
              <a:rPr lang="en-US" sz="3500" b="0" i="0" u="none" strike="noStrike" cap="none" dirty="0">
                <a:solidFill>
                  <a:srgbClr val="0DB14B"/>
                </a:solidFill>
                <a:latin typeface="Montserrat"/>
                <a:ea typeface="Montserrat"/>
                <a:cs typeface="Montserrat"/>
                <a:sym typeface="Montserrat"/>
              </a:rPr>
              <a:t>assign roles</a:t>
            </a:r>
            <a:endParaRPr dirty="0"/>
          </a:p>
        </p:txBody>
      </p:sp>
      <p:pic>
        <p:nvPicPr>
          <p:cNvPr id="685" name="Shape 685" descr="pasted-image.pdf"/>
          <p:cNvPicPr preferRelativeResize="0"/>
          <p:nvPr/>
        </p:nvPicPr>
        <p:blipFill rotWithShape="1">
          <a:blip r:embed="rId4">
            <a:alphaModFix/>
          </a:blip>
          <a:srcRect/>
          <a:stretch/>
        </p:blipFill>
        <p:spPr>
          <a:xfrm>
            <a:off x="11736606" y="8808486"/>
            <a:ext cx="930235" cy="595629"/>
          </a:xfrm>
          <a:prstGeom prst="rect">
            <a:avLst/>
          </a:prstGeom>
          <a:noFill/>
          <a:ln>
            <a:noFill/>
          </a:ln>
        </p:spPr>
      </p:pic>
      <p:sp>
        <p:nvSpPr>
          <p:cNvPr id="686" name="Shape 686"/>
          <p:cNvSpPr/>
          <p:nvPr/>
        </p:nvSpPr>
        <p:spPr>
          <a:xfrm>
            <a:off x="440150" y="3429000"/>
            <a:ext cx="5418300" cy="2387700"/>
          </a:xfrm>
          <a:prstGeom prst="rect">
            <a:avLst/>
          </a:prstGeom>
          <a:noFill/>
          <a:ln>
            <a:noFill/>
          </a:ln>
        </p:spPr>
        <p:txBody>
          <a:bodyPr spcFirstLastPara="1" wrap="square" lIns="50800" tIns="50800" rIns="50800" bIns="50800" anchor="ctr" anchorCtr="0">
            <a:noAutofit/>
          </a:bodyPr>
          <a:lstStyle/>
          <a:p>
            <a:pPr marL="0" marR="0" lvl="0" indent="0" algn="r" rtl="0">
              <a:lnSpc>
                <a:spcPct val="100000"/>
              </a:lnSpc>
              <a:spcBef>
                <a:spcPts val="0"/>
              </a:spcBef>
              <a:spcAft>
                <a:spcPts val="0"/>
              </a:spcAft>
              <a:buClr>
                <a:srgbClr val="2A3842"/>
              </a:buClr>
              <a:buFont typeface="Montserrat"/>
              <a:buNone/>
            </a:pPr>
            <a:r>
              <a:rPr lang="en-US" sz="7000" b="1">
                <a:solidFill>
                  <a:srgbClr val="2A3842"/>
                </a:solidFill>
                <a:latin typeface="Montserrat"/>
                <a:ea typeface="Montserrat"/>
                <a:cs typeface="Montserrat"/>
                <a:sym typeface="Montserrat"/>
              </a:rPr>
              <a:t>D</a:t>
            </a:r>
            <a:r>
              <a:rPr lang="en-US" sz="7000" b="1" i="0" u="none" strike="noStrike" cap="none">
                <a:solidFill>
                  <a:srgbClr val="2A3842"/>
                </a:solidFill>
                <a:latin typeface="Montserrat"/>
                <a:ea typeface="Montserrat"/>
                <a:cs typeface="Montserrat"/>
                <a:sym typeface="Montserrat"/>
              </a:rPr>
              <a:t>on’t </a:t>
            </a:r>
            <a:r>
              <a:rPr lang="en-US" sz="7000" b="1">
                <a:solidFill>
                  <a:srgbClr val="2A3842"/>
                </a:solidFill>
                <a:latin typeface="Montserrat"/>
                <a:ea typeface="Montserrat"/>
                <a:cs typeface="Montserrat"/>
                <a:sym typeface="Montserrat"/>
              </a:rPr>
              <a:t>L</a:t>
            </a:r>
            <a:r>
              <a:rPr lang="en-US" sz="7000" b="1" i="0" u="none" strike="noStrike" cap="none">
                <a:solidFill>
                  <a:srgbClr val="2A3842"/>
                </a:solidFill>
                <a:latin typeface="Montserrat"/>
                <a:ea typeface="Montserrat"/>
                <a:cs typeface="Montserrat"/>
                <a:sym typeface="Montserrat"/>
              </a:rPr>
              <a:t>eave </a:t>
            </a:r>
            <a:r>
              <a:rPr lang="en-US" sz="7000" b="1">
                <a:solidFill>
                  <a:srgbClr val="2A3842"/>
                </a:solidFill>
                <a:latin typeface="Montserrat"/>
                <a:ea typeface="Montserrat"/>
                <a:cs typeface="Montserrat"/>
                <a:sym typeface="Montserrat"/>
              </a:rPr>
              <a:t>W</a:t>
            </a:r>
            <a:r>
              <a:rPr lang="en-US" sz="7000" b="1" i="0" u="none" strike="noStrike" cap="none">
                <a:solidFill>
                  <a:srgbClr val="2A3842"/>
                </a:solidFill>
                <a:latin typeface="Montserrat"/>
                <a:ea typeface="Montserrat"/>
                <a:cs typeface="Montserrat"/>
                <a:sym typeface="Montserrat"/>
              </a:rPr>
              <a:t>ithout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B14B"/>
        </a:solidFill>
        <a:effectLst/>
      </p:bgPr>
    </p:bg>
    <p:spTree>
      <p:nvGrpSpPr>
        <p:cNvPr id="1" name="Shape 714"/>
        <p:cNvGrpSpPr/>
        <p:nvPr/>
      </p:nvGrpSpPr>
      <p:grpSpPr>
        <a:xfrm>
          <a:off x="0" y="0"/>
          <a:ext cx="0" cy="0"/>
          <a:chOff x="0" y="0"/>
          <a:chExt cx="0" cy="0"/>
        </a:xfrm>
      </p:grpSpPr>
      <p:sp>
        <p:nvSpPr>
          <p:cNvPr id="719" name="Shape 719"/>
          <p:cNvSpPr/>
          <p:nvPr/>
        </p:nvSpPr>
        <p:spPr>
          <a:xfrm>
            <a:off x="2619200" y="52264"/>
            <a:ext cx="7766400" cy="1574700"/>
          </a:xfrm>
          <a:prstGeom prst="rect">
            <a:avLst/>
          </a:prstGeom>
          <a:noFill/>
          <a:ln>
            <a:noFill/>
          </a:ln>
        </p:spPr>
        <p:txBody>
          <a:bodyPr spcFirstLastPara="1" wrap="square" lIns="50800" tIns="50800" rIns="50800" bIns="50800" anchor="ctr" anchorCtr="0">
            <a:noAutofit/>
          </a:bodyPr>
          <a:lstStyle/>
          <a:p>
            <a:pPr marL="0" marR="0" lvl="0" indent="0" algn="l" rtl="0">
              <a:lnSpc>
                <a:spcPct val="80000"/>
              </a:lnSpc>
              <a:spcBef>
                <a:spcPts val="0"/>
              </a:spcBef>
              <a:spcAft>
                <a:spcPts val="0"/>
              </a:spcAft>
              <a:buClr>
                <a:srgbClr val="FEFEFD"/>
              </a:buClr>
              <a:buFont typeface="Montserrat"/>
              <a:buNone/>
            </a:pPr>
            <a:r>
              <a:rPr lang="en-US" sz="9000" b="1" dirty="0" smtClean="0">
                <a:solidFill>
                  <a:srgbClr val="FEFEFD"/>
                </a:solidFill>
                <a:latin typeface="Montserrat"/>
                <a:ea typeface="Montserrat"/>
                <a:cs typeface="Montserrat"/>
                <a:sym typeface="Montserrat"/>
              </a:rPr>
              <a:t>Lean Canvas</a:t>
            </a:r>
            <a:endParaRPr dirty="0"/>
          </a:p>
        </p:txBody>
      </p:sp>
      <p:pic>
        <p:nvPicPr>
          <p:cNvPr id="724" name="Shape 724" descr="pasted-image.pdf"/>
          <p:cNvPicPr preferRelativeResize="0"/>
          <p:nvPr/>
        </p:nvPicPr>
        <p:blipFill rotWithShape="1">
          <a:blip r:embed="rId3">
            <a:alphaModFix/>
          </a:blip>
          <a:srcRect/>
          <a:stretch/>
        </p:blipFill>
        <p:spPr>
          <a:xfrm>
            <a:off x="11734800" y="8820549"/>
            <a:ext cx="927100" cy="593623"/>
          </a:xfrm>
          <a:prstGeom prst="rect">
            <a:avLst/>
          </a:prstGeom>
          <a:noFill/>
          <a:ln>
            <a:noFill/>
          </a:ln>
        </p:spPr>
      </p:pic>
      <p:pic>
        <p:nvPicPr>
          <p:cNvPr id="3074" name="Picture 2" descr="https://bmtoolbox.net/wp-content/uploads/2016/05/Tool_24_leancanvas.jpg"/>
          <p:cNvPicPr>
            <a:picLocks noChangeAspect="1" noChangeArrowheads="1"/>
          </p:cNvPicPr>
          <p:nvPr/>
        </p:nvPicPr>
        <p:blipFill>
          <a:blip r:embed="rId4"/>
          <a:srcRect/>
          <a:stretch>
            <a:fillRect/>
          </a:stretch>
        </p:blipFill>
        <p:spPr bwMode="auto">
          <a:xfrm>
            <a:off x="358055" y="1436867"/>
            <a:ext cx="12288691" cy="8192461"/>
          </a:xfrm>
          <a:prstGeom prst="rect">
            <a:avLst/>
          </a:prstGeom>
          <a:noFill/>
        </p:spPr>
      </p:pic>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881</TotalTime>
  <Words>1335</Words>
  <Application>Microsoft Office PowerPoint</Application>
  <PresentationFormat>Custom</PresentationFormat>
  <Paragraphs>200</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Montserrat</vt:lpstr>
      <vt:lpstr>Helvetica Neue Light</vt:lpstr>
      <vt:lpstr>Helvetica Neue</vt:lpstr>
      <vt:lpstr>Avenir</vt:lpstr>
      <vt:lpstr>Merriweather Sans</vt:lpstr>
      <vt:lpstr>White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D'Amours</dc:creator>
  <cp:lastModifiedBy>Andrew D'Amours</cp:lastModifiedBy>
  <cp:revision>113</cp:revision>
  <dcterms:modified xsi:type="dcterms:W3CDTF">2019-03-16T02:28:54Z</dcterms:modified>
</cp:coreProperties>
</file>